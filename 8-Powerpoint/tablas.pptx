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8" r:id="rId1"/>
  </p:sldMasterIdLst>
  <p:notesMasterIdLst>
    <p:notesMasterId r:id="rId16"/>
  </p:notesMasterIdLst>
  <p:sldIdLst>
    <p:sldId id="256" r:id="rId2"/>
    <p:sldId id="301" r:id="rId3"/>
    <p:sldId id="303" r:id="rId4"/>
    <p:sldId id="304" r:id="rId5"/>
    <p:sldId id="307" r:id="rId6"/>
    <p:sldId id="368" r:id="rId7"/>
    <p:sldId id="373" r:id="rId8"/>
    <p:sldId id="310" r:id="rId9"/>
    <p:sldId id="311" r:id="rId10"/>
    <p:sldId id="313" r:id="rId11"/>
    <p:sldId id="364" r:id="rId12"/>
    <p:sldId id="365" r:id="rId13"/>
    <p:sldId id="369" r:id="rId14"/>
    <p:sldId id="366" r:id="rId15"/>
  </p:sldIdLst>
  <p:sldSz cx="9144000" cy="6858000" type="screen4x3"/>
  <p:notesSz cx="6797675" cy="9856788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5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31" autoAdjust="0"/>
    <p:restoredTop sz="97662" autoAdjust="0"/>
  </p:normalViewPr>
  <p:slideViewPr>
    <p:cSldViewPr>
      <p:cViewPr varScale="1">
        <p:scale>
          <a:sx n="97" d="100"/>
          <a:sy n="97" d="100"/>
        </p:scale>
        <p:origin x="70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1" d="100"/>
          <a:sy n="101" d="100"/>
        </p:scale>
        <p:origin x="-2568" y="-102"/>
      </p:cViewPr>
      <p:guideLst>
        <p:guide orient="horz" pos="3105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2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2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11F81FAA-FFB1-42F9-8131-BC6E1A9B9949}" type="datetimeFigureOut">
              <a:rPr lang="es-ES"/>
              <a:pPr>
                <a:defRPr/>
              </a:pPr>
              <a:t>14/10/2024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35038" y="739775"/>
            <a:ext cx="4927600" cy="3695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79450" y="4681538"/>
            <a:ext cx="5438775" cy="4435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361488"/>
            <a:ext cx="29464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49688" y="9361488"/>
            <a:ext cx="29464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835576F1-7983-4DAD-BF9E-A5A898FF587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:notes"/>
          <p:cNvSpPr txBox="1">
            <a:spLocks noGrp="1"/>
          </p:cNvSpPr>
          <p:nvPr>
            <p:ph type="body" idx="1"/>
          </p:nvPr>
        </p:nvSpPr>
        <p:spPr>
          <a:xfrm>
            <a:off x="679450" y="4681538"/>
            <a:ext cx="5438775" cy="44354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5038" y="739775"/>
            <a:ext cx="4927600" cy="3695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5576F1-7983-4DAD-BF9E-A5A898FF5875}" type="slidenum">
              <a:rPr lang="es-ES" smtClean="0"/>
              <a:pPr>
                <a:defRPr/>
              </a:pPr>
              <a:t>6</a:t>
            </a:fld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5576F1-7983-4DAD-BF9E-A5A898FF5875}" type="slidenum">
              <a:rPr lang="es-ES" smtClean="0"/>
              <a:pPr>
                <a:defRPr/>
              </a:pPr>
              <a:t>7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4 Rectángulo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5 Rectángulo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7" name="27 Marcador de fecha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6D4E10A-D926-4FB4-A673-0CD35B768DC4}" type="datetimeFigureOut">
              <a:rPr lang="es-ES"/>
              <a:pPr>
                <a:defRPr/>
              </a:pPr>
              <a:t>14/10/2024</a:t>
            </a:fld>
            <a:endParaRPr lang="es-ES"/>
          </a:p>
        </p:txBody>
      </p:sp>
      <p:sp>
        <p:nvSpPr>
          <p:cNvPr id="10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FFF8389-C0A9-42D6-97E4-9A677A9498C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5EB977-5F99-4840-872A-139A57100E42}" type="datetimeFigureOut">
              <a:rPr lang="es-ES"/>
              <a:pPr>
                <a:defRPr/>
              </a:pPr>
              <a:t>14/10/2024</a:t>
            </a:fld>
            <a:endParaRPr lang="es-ES"/>
          </a:p>
        </p:txBody>
      </p:sp>
      <p:sp>
        <p:nvSpPr>
          <p:cNvPr id="5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0DD286-AF2E-4D4F-BAAD-EEB0D431936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4 Rectángulo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5 Rectángulo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7" name="1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6F3E30-43CC-47D8-8D64-522790CF1F51}" type="datetimeFigureOut">
              <a:rPr lang="es-ES"/>
              <a:pPr>
                <a:defRPr/>
              </a:pPr>
              <a:t>14/10/2024</a:t>
            </a:fld>
            <a:endParaRPr lang="es-ES"/>
          </a:p>
        </p:txBody>
      </p:sp>
      <p:sp>
        <p:nvSpPr>
          <p:cNvPr id="8" name="12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90981A1-BB75-4F94-8378-46794158A76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  <p:sp>
        <p:nvSpPr>
          <p:cNvPr id="9" name="13 Marcador de pie de página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7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FD97755-6F0F-4A8D-81EF-77BB2D51A895}" type="datetimeFigureOut">
              <a:rPr lang="es-ES"/>
              <a:pPr>
                <a:defRPr/>
              </a:pPr>
              <a:t>14/10/2024</a:t>
            </a:fld>
            <a:endParaRPr lang="es-ES"/>
          </a:p>
        </p:txBody>
      </p:sp>
      <p:sp>
        <p:nvSpPr>
          <p:cNvPr id="6" name="9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1E4BDF94-0BEE-4264-B7ED-C77392D54C7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  <p:sp>
        <p:nvSpPr>
          <p:cNvPr id="7" name="11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6" name="15 Marcador de texto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7" name="9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2341606-0A58-43F5-92B2-0698B591A576}" type="datetimeFigureOut">
              <a:rPr lang="es-ES"/>
              <a:pPr>
                <a:defRPr/>
              </a:pPr>
              <a:t>14/10/2024</a:t>
            </a:fld>
            <a:endParaRPr lang="es-ES"/>
          </a:p>
        </p:txBody>
      </p:sp>
      <p:sp>
        <p:nvSpPr>
          <p:cNvPr id="8" name="11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5DAC0DFC-1D44-4392-A8E8-AA4C74043EF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  <p:sp>
        <p:nvSpPr>
          <p:cNvPr id="9" name="13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8A11A-259B-4E8E-A831-75EE6A049EDF}" type="datetimeFigureOut">
              <a:rPr lang="es-ES"/>
              <a:pPr>
                <a:defRPr/>
              </a:pPr>
              <a:t>14/10/2024</a:t>
            </a:fld>
            <a:endParaRPr lang="es-ES"/>
          </a:p>
        </p:txBody>
      </p:sp>
      <p:sp>
        <p:nvSpPr>
          <p:cNvPr id="4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680A2F-4FF8-44AB-A33C-887F74BFE3D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23B778-2924-4F08-8056-4F21809B07B7}" type="datetimeFigureOut">
              <a:rPr lang="es-ES"/>
              <a:pPr>
                <a:defRPr/>
              </a:pPr>
              <a:t>14/10/2024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BE1394C-39FD-460C-8E82-7C47C24052E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B7DF4C-4770-46A1-BF36-1A02810B5E76}" type="datetimeFigureOut">
              <a:rPr lang="es-ES"/>
              <a:pPr>
                <a:defRPr/>
              </a:pPr>
              <a:t>14/10/2024</a:t>
            </a:fld>
            <a:endParaRPr lang="es-ES"/>
          </a:p>
        </p:txBody>
      </p:sp>
      <p:sp>
        <p:nvSpPr>
          <p:cNvPr id="6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BACF47-1D98-4853-B1D3-89690920841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5 Rectángulo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6 Rectángulo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7 Rectángulo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9" name="11 Marcador de fecha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7DF8B4B-B2AC-4268-BBF8-58B0A904BDA6}" type="datetimeFigureOut">
              <a:rPr lang="es-ES"/>
              <a:pPr>
                <a:defRPr/>
              </a:pPr>
              <a:t>14/10/2024</a:t>
            </a:fld>
            <a:endParaRPr lang="es-ES"/>
          </a:p>
        </p:txBody>
      </p:sp>
      <p:sp>
        <p:nvSpPr>
          <p:cNvPr id="10" name="12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 smtClean="0"/>
            </a:lvl1pPr>
          </a:lstStyle>
          <a:p>
            <a:pPr>
              <a:defRPr/>
            </a:pPr>
            <a:fld id="{CB64781A-44EE-4524-B3B9-AE36CC52043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  <p:sp>
        <p:nvSpPr>
          <p:cNvPr id="11" name="13 Marcador de pie de página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6145D7-DF09-4805-A8AB-FF15CBC87BEE}" type="datetimeFigureOut">
              <a:rPr lang="es-ES"/>
              <a:pPr>
                <a:defRPr/>
              </a:pPr>
              <a:t>14/10/2024</a:t>
            </a:fld>
            <a:endParaRPr lang="es-ES"/>
          </a:p>
        </p:txBody>
      </p:sp>
      <p:sp>
        <p:nvSpPr>
          <p:cNvPr id="5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B93277-BAF7-4A41-8D14-2950A23B8EC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4 Rectángulo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5 Rectángulo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694D0F-5AB2-4989-B021-0191E8A3CD6D}" type="datetimeFigureOut">
              <a:rPr lang="es-ES"/>
              <a:pPr>
                <a:defRPr/>
              </a:pPr>
              <a:t>14/10/2024</a:t>
            </a:fld>
            <a:endParaRPr lang="es-ES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8AD17-52CB-4AC7-A56A-B99E52C3053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21 Marcador de título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7411" name="12 Marcador de texto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72F326A-60B8-4709-96A4-2ADA62CE9D94}" type="datetimeFigureOut">
              <a:rPr lang="es-ES"/>
              <a:pPr>
                <a:defRPr/>
              </a:pPr>
              <a:t>14/10/2024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Rectángulo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7 Rectángulo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8 Rectángulo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 smtClean="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FCCD736-05C6-4DDE-83E5-C9A38CE48DB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  <p:sldLayoutId id="2147484027" r:id="rId2"/>
    <p:sldLayoutId id="2147484032" r:id="rId3"/>
    <p:sldLayoutId id="2147484033" r:id="rId4"/>
    <p:sldLayoutId id="2147484034" r:id="rId5"/>
    <p:sldLayoutId id="2147484028" r:id="rId6"/>
    <p:sldLayoutId id="2147484035" r:id="rId7"/>
    <p:sldLayoutId id="2147484029" r:id="rId8"/>
    <p:sldLayoutId id="2147484036" r:id="rId9"/>
    <p:sldLayoutId id="2147484030" r:id="rId10"/>
    <p:sldLayoutId id="2147484037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fontAlgn="base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fontAlgn="base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fontAlgn="base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fontAlgn="base">
        <a:spcBef>
          <a:spcPts val="400"/>
        </a:spcBef>
        <a:spcAft>
          <a:spcPct val="0"/>
        </a:spcAft>
        <a:buClr>
          <a:srgbClr val="D2DA7A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fontAlgn="base">
        <a:spcBef>
          <a:spcPts val="400"/>
        </a:spcBef>
        <a:spcAft>
          <a:spcPct val="0"/>
        </a:spcAft>
        <a:buClr>
          <a:srgbClr val="FADA7A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qgis.org/2.18/es/docs/user_manual/working_with_vector/expression.html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" descr="Untitled-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5125" y="714375"/>
            <a:ext cx="1989138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2362200" y="4038600"/>
            <a:ext cx="656748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800" dirty="0"/>
              <a:t>CURSO DE QGIS</a:t>
            </a:r>
            <a:br>
              <a:rPr lang="es-ES" dirty="0"/>
            </a:br>
            <a:r>
              <a:rPr lang="es-ES" dirty="0"/>
              <a:t>tablas</a:t>
            </a:r>
            <a:endParaRPr dirty="0"/>
          </a:p>
        </p:txBody>
      </p:sp>
      <p:sp>
        <p:nvSpPr>
          <p:cNvPr id="124" name="Google Shape;124;p1"/>
          <p:cNvSpPr txBox="1"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60"/>
              <a:buNone/>
            </a:pPr>
            <a:r>
              <a:rPr lang="es-ES" dirty="0"/>
              <a:t>Zaragoza, octubre 2024</a:t>
            </a:r>
            <a:endParaRPr dirty="0"/>
          </a:p>
        </p:txBody>
      </p:sp>
      <p:pic>
        <p:nvPicPr>
          <p:cNvPr id="3" name="Imagen 2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F31D3911-951C-8F02-D0B9-E848518A76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681" b="23829"/>
          <a:stretch/>
        </p:blipFill>
        <p:spPr>
          <a:xfrm>
            <a:off x="152400" y="6122062"/>
            <a:ext cx="1866900" cy="61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ctr"/>
            <a:r>
              <a:rPr lang="es-ES" dirty="0"/>
              <a:t>Trabajando con tablas</a:t>
            </a:r>
          </a:p>
        </p:txBody>
      </p:sp>
      <p:sp>
        <p:nvSpPr>
          <p:cNvPr id="2053" name="Rectangle 3"/>
          <p:cNvSpPr>
            <a:spLocks noGrp="1"/>
          </p:cNvSpPr>
          <p:nvPr>
            <p:ph type="body" sz="half" idx="4294967295"/>
          </p:nvPr>
        </p:nvSpPr>
        <p:spPr>
          <a:xfrm>
            <a:off x="323528" y="1600200"/>
            <a:ext cx="4000500" cy="4525963"/>
          </a:xfrm>
        </p:spPr>
        <p:txBody>
          <a:bodyPr/>
          <a:lstStyle/>
          <a:p>
            <a:r>
              <a:rPr lang="es-ES" sz="2500" dirty="0"/>
              <a:t>¿Qué es una tabla?</a:t>
            </a:r>
          </a:p>
          <a:p>
            <a:pPr lvl="1"/>
            <a:r>
              <a:rPr lang="es-ES" sz="1800" dirty="0"/>
              <a:t>Una tabla es un conjunto de celdas distribuidas en filas y columnas que contienen la información </a:t>
            </a:r>
            <a:r>
              <a:rPr lang="es-ES" sz="1800" dirty="0" err="1"/>
              <a:t>alfumérica</a:t>
            </a:r>
            <a:r>
              <a:rPr lang="es-ES" sz="1800" dirty="0"/>
              <a:t> correspondiente a las entidades representadas en la parte gráfica.</a:t>
            </a:r>
          </a:p>
          <a:p>
            <a:pPr lvl="1"/>
            <a:r>
              <a:rPr lang="es-ES" sz="1800" dirty="0"/>
              <a:t>Formato </a:t>
            </a:r>
            <a:r>
              <a:rPr lang="es-ES" sz="1800" dirty="0" err="1"/>
              <a:t>dBase</a:t>
            </a:r>
            <a:r>
              <a:rPr lang="es-ES" sz="1800" dirty="0"/>
              <a:t> (</a:t>
            </a:r>
            <a:r>
              <a:rPr lang="es-ES" sz="1800" dirty="0" err="1"/>
              <a:t>dbf</a:t>
            </a:r>
            <a:r>
              <a:rPr lang="es-ES" sz="1800" dirty="0"/>
              <a:t>) / </a:t>
            </a:r>
            <a:r>
              <a:rPr lang="es-ES" sz="1800" dirty="0" err="1"/>
              <a:t>Postgres</a:t>
            </a:r>
            <a:endParaRPr lang="es-ES" sz="1800" dirty="0"/>
          </a:p>
          <a:p>
            <a:pPr lvl="2"/>
            <a:r>
              <a:rPr lang="es-ES" sz="1700" b="1" dirty="0"/>
              <a:t>Fila o registro</a:t>
            </a:r>
            <a:r>
              <a:rPr lang="es-ES" sz="1700" dirty="0"/>
              <a:t>: Representación de los distintos elementos.</a:t>
            </a:r>
          </a:p>
          <a:p>
            <a:pPr lvl="2"/>
            <a:r>
              <a:rPr lang="es-ES" sz="1700" b="1" dirty="0"/>
              <a:t>Columna o campo</a:t>
            </a:r>
            <a:r>
              <a:rPr lang="es-ES" sz="1700" dirty="0"/>
              <a:t>: Atributos que definen a cada elemento.</a:t>
            </a:r>
          </a:p>
          <a:p>
            <a:pPr lvl="2"/>
            <a:r>
              <a:rPr lang="es-ES" sz="1700" b="1" dirty="0"/>
              <a:t>Celda</a:t>
            </a:r>
            <a:r>
              <a:rPr lang="es-ES" sz="1700" dirty="0"/>
              <a:t>: Intersección de un registro y un campo.</a:t>
            </a:r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 cstate="print"/>
          <a:srcRect l="67473" t="4702" r="30409" b="92653"/>
          <a:stretch>
            <a:fillRect/>
          </a:stretch>
        </p:blipFill>
        <p:spPr bwMode="auto">
          <a:xfrm>
            <a:off x="3923928" y="1556792"/>
            <a:ext cx="504056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75C7C4E-F151-1F87-630F-78361A33E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289" y="2482156"/>
            <a:ext cx="4628274" cy="23042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5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ctr"/>
            <a:r>
              <a:rPr lang="es-ES" dirty="0"/>
              <a:t>Trabajando con tablas (II)</a:t>
            </a:r>
          </a:p>
        </p:txBody>
      </p:sp>
      <p:grpSp>
        <p:nvGrpSpPr>
          <p:cNvPr id="24" name="23 Grupo"/>
          <p:cNvGrpSpPr/>
          <p:nvPr/>
        </p:nvGrpSpPr>
        <p:grpSpPr>
          <a:xfrm>
            <a:off x="395536" y="2348880"/>
            <a:ext cx="8395612" cy="1942475"/>
            <a:chOff x="251520" y="1700808"/>
            <a:chExt cx="8395612" cy="1942475"/>
          </a:xfrm>
        </p:grpSpPr>
        <p:pic>
          <p:nvPicPr>
            <p:cNvPr id="2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 b="92944"/>
            <a:stretch>
              <a:fillRect/>
            </a:stretch>
          </p:blipFill>
          <p:spPr bwMode="auto">
            <a:xfrm>
              <a:off x="899592" y="1700808"/>
              <a:ext cx="7416824" cy="7758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5 Flecha derecha"/>
            <p:cNvSpPr/>
            <p:nvPr/>
          </p:nvSpPr>
          <p:spPr>
            <a:xfrm rot="19628226">
              <a:off x="688072" y="2598595"/>
              <a:ext cx="432048" cy="144016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" name="6 Flecha derecha"/>
            <p:cNvSpPr/>
            <p:nvPr/>
          </p:nvSpPr>
          <p:spPr>
            <a:xfrm rot="19628226">
              <a:off x="2632288" y="2526585"/>
              <a:ext cx="432048" cy="144016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7 CuadroTexto"/>
            <p:cNvSpPr txBox="1"/>
            <p:nvPr/>
          </p:nvSpPr>
          <p:spPr>
            <a:xfrm>
              <a:off x="251520" y="2852936"/>
              <a:ext cx="9412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Edición</a:t>
              </a:r>
            </a:p>
          </p:txBody>
        </p:sp>
        <p:sp>
          <p:nvSpPr>
            <p:cNvPr id="9" name="8 CuadroTexto"/>
            <p:cNvSpPr txBox="1"/>
            <p:nvPr/>
          </p:nvSpPr>
          <p:spPr>
            <a:xfrm>
              <a:off x="1835696" y="2780928"/>
              <a:ext cx="1095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Consulta</a:t>
              </a:r>
            </a:p>
          </p:txBody>
        </p:sp>
        <p:sp>
          <p:nvSpPr>
            <p:cNvPr id="10" name="9 Rectángulo"/>
            <p:cNvSpPr/>
            <p:nvPr/>
          </p:nvSpPr>
          <p:spPr>
            <a:xfrm>
              <a:off x="899592" y="2060848"/>
              <a:ext cx="1008112" cy="4320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10 Rectángulo"/>
            <p:cNvSpPr/>
            <p:nvPr/>
          </p:nvSpPr>
          <p:spPr>
            <a:xfrm>
              <a:off x="3275856" y="2060848"/>
              <a:ext cx="2088232" cy="4320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11 Flecha derecha"/>
            <p:cNvSpPr/>
            <p:nvPr/>
          </p:nvSpPr>
          <p:spPr>
            <a:xfrm rot="16881825">
              <a:off x="4023195" y="2737511"/>
              <a:ext cx="432048" cy="97594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12 CuadroTexto"/>
            <p:cNvSpPr txBox="1"/>
            <p:nvPr/>
          </p:nvSpPr>
          <p:spPr>
            <a:xfrm>
              <a:off x="3707904" y="3068960"/>
              <a:ext cx="1184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Selección</a:t>
              </a:r>
            </a:p>
          </p:txBody>
        </p:sp>
        <p:sp>
          <p:nvSpPr>
            <p:cNvPr id="14" name="13 Rectángulo"/>
            <p:cNvSpPr/>
            <p:nvPr/>
          </p:nvSpPr>
          <p:spPr>
            <a:xfrm>
              <a:off x="5436096" y="2060848"/>
              <a:ext cx="648072" cy="4320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14 CuadroTexto"/>
            <p:cNvSpPr txBox="1"/>
            <p:nvPr/>
          </p:nvSpPr>
          <p:spPr>
            <a:xfrm>
              <a:off x="5355957" y="2996952"/>
              <a:ext cx="80021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err="1"/>
                <a:t>Copy</a:t>
              </a:r>
              <a:r>
                <a:rPr lang="es-ES" dirty="0"/>
                <a:t>-</a:t>
              </a:r>
            </a:p>
            <a:p>
              <a:r>
                <a:rPr lang="es-ES" dirty="0"/>
                <a:t>paste</a:t>
              </a:r>
            </a:p>
          </p:txBody>
        </p:sp>
        <p:sp>
          <p:nvSpPr>
            <p:cNvPr id="16" name="15 Flecha derecha"/>
            <p:cNvSpPr/>
            <p:nvPr/>
          </p:nvSpPr>
          <p:spPr>
            <a:xfrm rot="15281199">
              <a:off x="5489706" y="2737512"/>
              <a:ext cx="432048" cy="97594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16 Rectángulo"/>
            <p:cNvSpPr/>
            <p:nvPr/>
          </p:nvSpPr>
          <p:spPr>
            <a:xfrm>
              <a:off x="6156176" y="2060848"/>
              <a:ext cx="864096" cy="4320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17 Flecha derecha"/>
            <p:cNvSpPr/>
            <p:nvPr/>
          </p:nvSpPr>
          <p:spPr>
            <a:xfrm rot="15281199">
              <a:off x="6332300" y="2737349"/>
              <a:ext cx="432048" cy="97594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18 CuadroTexto"/>
            <p:cNvSpPr txBox="1"/>
            <p:nvPr/>
          </p:nvSpPr>
          <p:spPr>
            <a:xfrm>
              <a:off x="6084168" y="2996952"/>
              <a:ext cx="1043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Campos</a:t>
              </a:r>
            </a:p>
          </p:txBody>
        </p:sp>
        <p:sp>
          <p:nvSpPr>
            <p:cNvPr id="21" name="20 Rectángulo"/>
            <p:cNvSpPr/>
            <p:nvPr/>
          </p:nvSpPr>
          <p:spPr>
            <a:xfrm>
              <a:off x="7092280" y="2060848"/>
              <a:ext cx="360040" cy="4320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21 Flecha derecha"/>
            <p:cNvSpPr/>
            <p:nvPr/>
          </p:nvSpPr>
          <p:spPr>
            <a:xfrm rot="13668608">
              <a:off x="7201505" y="2636928"/>
              <a:ext cx="432048" cy="97594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3" name="22 CuadroTexto"/>
            <p:cNvSpPr txBox="1"/>
            <p:nvPr/>
          </p:nvSpPr>
          <p:spPr>
            <a:xfrm>
              <a:off x="7308304" y="2852936"/>
              <a:ext cx="13388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Formato</a:t>
              </a:r>
            </a:p>
            <a:p>
              <a:r>
                <a:rPr lang="es-ES" dirty="0"/>
                <a:t>condicional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ctr"/>
            <a:r>
              <a:rPr lang="es-ES" dirty="0"/>
              <a:t>Propiedades de una tabla</a:t>
            </a:r>
          </a:p>
        </p:txBody>
      </p:sp>
      <p:sp>
        <p:nvSpPr>
          <p:cNvPr id="5124" name="Rectangle 3"/>
          <p:cNvSpPr>
            <a:spLocks noGrp="1"/>
          </p:cNvSpPr>
          <p:nvPr>
            <p:ph type="body" idx="4294967295"/>
          </p:nvPr>
        </p:nvSpPr>
        <p:spPr>
          <a:xfrm>
            <a:off x="612775" y="1600200"/>
            <a:ext cx="8153400" cy="749300"/>
          </a:xfrm>
        </p:spPr>
        <p:txBody>
          <a:bodyPr/>
          <a:lstStyle/>
          <a:p>
            <a:r>
              <a:rPr lang="es-ES"/>
              <a:t>Acceder a las propiedades de la tabla</a:t>
            </a:r>
          </a:p>
        </p:txBody>
      </p:sp>
      <p:sp>
        <p:nvSpPr>
          <p:cNvPr id="5125" name="Rectangle 9"/>
          <p:cNvSpPr>
            <a:spLocks/>
          </p:cNvSpPr>
          <p:nvPr/>
        </p:nvSpPr>
        <p:spPr bwMode="auto">
          <a:xfrm>
            <a:off x="611188" y="2276475"/>
            <a:ext cx="3024187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19088" indent="-319088"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r>
              <a:rPr lang="es-ES" sz="1600" dirty="0">
                <a:latin typeface="Tw Cen MT" pitchFamily="34" charset="0"/>
              </a:rPr>
              <a:t>Desde la vista,  y accediendo a las propiedades de la capa desde el menú contextual que aparece al pulsar con el botón derecho del ratón sobre la capa, seleccionando la que se desee</a:t>
            </a:r>
          </a:p>
          <a:p>
            <a:pPr marL="639763" lvl="1" indent="-2730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</a:pPr>
            <a:r>
              <a:rPr lang="es-ES" sz="1500" dirty="0">
                <a:latin typeface="Tw Cen MT" pitchFamily="34" charset="0"/>
              </a:rPr>
              <a:t>Accedemos a las propiedades de los campos de la tabla</a:t>
            </a:r>
          </a:p>
          <a:p>
            <a:pPr marL="639763" lvl="1" indent="-2730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</a:pPr>
            <a:r>
              <a:rPr lang="es-ES" sz="1500" dirty="0">
                <a:latin typeface="Tw Cen MT" pitchFamily="34" charset="0"/>
              </a:rPr>
              <a:t>Podemos editar las propiedades del control</a:t>
            </a:r>
          </a:p>
        </p:txBody>
      </p:sp>
      <p:sp>
        <p:nvSpPr>
          <p:cNvPr id="9" name="Rectangle 3"/>
          <p:cNvSpPr txBox="1">
            <a:spLocks/>
          </p:cNvSpPr>
          <p:nvPr/>
        </p:nvSpPr>
        <p:spPr bwMode="auto">
          <a:xfrm>
            <a:off x="683568" y="5412357"/>
            <a:ext cx="8208912" cy="1401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19088" marR="0" lvl="0" indent="-319088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tabLst/>
              <a:defRPr/>
            </a:pPr>
            <a:r>
              <a:rPr lang="es-ES" sz="2500" b="1" dirty="0">
                <a:latin typeface="+mn-lt"/>
                <a:cs typeface="+mn-cs"/>
              </a:rPr>
              <a:t>EJERCICIO</a:t>
            </a:r>
            <a:endParaRPr kumimoji="0" lang="es-E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39763" marR="0" lvl="1" indent="-273050" algn="l" defTabSz="914400" rtl="0" eaLnBrk="1" fontAlgn="base" latinLnBrk="0" hangingPunct="1">
              <a:lnSpc>
                <a:spcPct val="100000"/>
              </a:lnSpc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tabLst/>
              <a:defRPr/>
            </a:pPr>
            <a:r>
              <a:rPr lang="es-ES" dirty="0">
                <a:latin typeface="+mn-lt"/>
                <a:cs typeface="+mn-cs"/>
              </a:rPr>
              <a:t>Crear un campo de texto llamado “TAMANIO” en el que, a partir de un dominio de valores (mapa de valor) se pueda asignar el valor “GRANDE” o “MEDIANO” o “PEQUEÑO” a cada municipio.</a:t>
            </a:r>
            <a:endParaRPr kumimoji="0" lang="es-ES" sz="1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5B1632D-FD9A-3448-E274-3A753B317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2315340"/>
            <a:ext cx="4429864" cy="26646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9872" y="2924944"/>
            <a:ext cx="5292080" cy="2501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ctr"/>
            <a:r>
              <a:rPr lang="es-ES" dirty="0"/>
              <a:t>Consultas alfanuméricas</a:t>
            </a:r>
          </a:p>
        </p:txBody>
      </p:sp>
      <p:sp>
        <p:nvSpPr>
          <p:cNvPr id="8199" name="Rectangle 3"/>
          <p:cNvSpPr>
            <a:spLocks noGrp="1"/>
          </p:cNvSpPr>
          <p:nvPr>
            <p:ph type="body" sz="half" idx="4294967295"/>
          </p:nvPr>
        </p:nvSpPr>
        <p:spPr>
          <a:xfrm>
            <a:off x="612775" y="1600200"/>
            <a:ext cx="5614988" cy="4603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s-ES" sz="2500" dirty="0">
                <a:solidFill>
                  <a:schemeClr val="accent1"/>
                </a:solidFill>
              </a:rPr>
              <a:t>Visualización y consulta de tablas</a:t>
            </a:r>
          </a:p>
        </p:txBody>
      </p:sp>
      <p:sp>
        <p:nvSpPr>
          <p:cNvPr id="8200" name="Rectangle 7"/>
          <p:cNvSpPr>
            <a:spLocks noChangeArrowheads="1"/>
          </p:cNvSpPr>
          <p:nvPr/>
        </p:nvSpPr>
        <p:spPr bwMode="auto">
          <a:xfrm>
            <a:off x="0" y="3717032"/>
            <a:ext cx="3168352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2"/>
            <a:r>
              <a:rPr lang="es-ES" sz="1600" dirty="0">
                <a:latin typeface="Tw Cen MT" pitchFamily="34" charset="0"/>
              </a:rPr>
              <a:t>Accede a una ventana emergente desde la que realizar la consulta mediante </a:t>
            </a:r>
            <a:r>
              <a:rPr lang="es-ES" sz="1600" b="1" dirty="0">
                <a:latin typeface="Tw Cen MT" pitchFamily="34" charset="0"/>
              </a:rPr>
              <a:t>lenguaje SQL</a:t>
            </a:r>
            <a:r>
              <a:rPr lang="es-ES" sz="1600" dirty="0">
                <a:latin typeface="Tw Cen MT" pitchFamily="34" charset="0"/>
              </a:rPr>
              <a:t>:</a:t>
            </a:r>
          </a:p>
          <a:p>
            <a:pPr lvl="2">
              <a:buFont typeface="Arial" pitchFamily="34" charset="0"/>
              <a:buChar char="•"/>
            </a:pPr>
            <a:r>
              <a:rPr lang="es-ES" sz="1600" dirty="0">
                <a:latin typeface="Tw Cen MT" pitchFamily="34" charset="0"/>
              </a:rPr>
              <a:t> En la parte superior aparecen los operadores</a:t>
            </a:r>
          </a:p>
          <a:p>
            <a:pPr lvl="2">
              <a:buFont typeface="Arial" pitchFamily="34" charset="0"/>
              <a:buChar char="•"/>
            </a:pPr>
            <a:r>
              <a:rPr lang="es-ES" sz="1600" dirty="0">
                <a:latin typeface="Tw Cen MT" pitchFamily="34" charset="0"/>
              </a:rPr>
              <a:t> En la izquierda se introduce la expresión</a:t>
            </a:r>
          </a:p>
          <a:p>
            <a:pPr lvl="2">
              <a:buFont typeface="Arial" pitchFamily="34" charset="0"/>
              <a:buChar char="•"/>
            </a:pPr>
            <a:r>
              <a:rPr lang="es-ES" sz="1600" dirty="0">
                <a:latin typeface="Tw Cen MT" pitchFamily="34" charset="0"/>
              </a:rPr>
              <a:t> En el centro aparecen los campos y funciones</a:t>
            </a:r>
          </a:p>
          <a:p>
            <a:pPr lvl="2">
              <a:buFont typeface="Arial" pitchFamily="34" charset="0"/>
              <a:buChar char="•"/>
            </a:pPr>
            <a:r>
              <a:rPr lang="es-ES" sz="1600" dirty="0">
                <a:latin typeface="Tw Cen MT" pitchFamily="34" charset="0"/>
              </a:rPr>
              <a:t> A la derecha aparece la ayuda de la función</a:t>
            </a:r>
          </a:p>
        </p:txBody>
      </p:sp>
      <p:sp>
        <p:nvSpPr>
          <p:cNvPr id="8201" name="Rectangle 8"/>
          <p:cNvSpPr>
            <a:spLocks/>
          </p:cNvSpPr>
          <p:nvPr/>
        </p:nvSpPr>
        <p:spPr bwMode="auto">
          <a:xfrm>
            <a:off x="251520" y="2060574"/>
            <a:ext cx="2808312" cy="1152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6088" lvl="1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None/>
            </a:pPr>
            <a:r>
              <a:rPr lang="es-ES" sz="1600" dirty="0">
                <a:latin typeface="Tw Cen MT" pitchFamily="34" charset="0"/>
              </a:rPr>
              <a:t>Permite definir un subconjunto de una tabla utilizando una cláusula </a:t>
            </a:r>
            <a:r>
              <a:rPr lang="es-ES" sz="1600" b="1" dirty="0">
                <a:latin typeface="Tw Cen MT" pitchFamily="34" charset="0"/>
              </a:rPr>
              <a:t>WHERE</a:t>
            </a:r>
            <a:r>
              <a:rPr lang="es-ES" sz="1600" dirty="0">
                <a:latin typeface="Tw Cen MT" pitchFamily="34" charset="0"/>
              </a:rPr>
              <a:t> similar a </a:t>
            </a:r>
            <a:r>
              <a:rPr lang="es-ES" sz="1600" b="1" dirty="0">
                <a:latin typeface="Tw Cen MT" pitchFamily="34" charset="0"/>
              </a:rPr>
              <a:t>SQL</a:t>
            </a:r>
            <a:r>
              <a:rPr lang="es-ES" sz="1600" dirty="0">
                <a:latin typeface="Tw Cen MT" pitchFamily="34" charset="0"/>
              </a:rPr>
              <a:t> y mostrar el resultado en la ventana principal</a:t>
            </a:r>
          </a:p>
        </p:txBody>
      </p:sp>
      <p:sp>
        <p:nvSpPr>
          <p:cNvPr id="8206" name="Oval 20"/>
          <p:cNvSpPr>
            <a:spLocks noChangeArrowheads="1"/>
          </p:cNvSpPr>
          <p:nvPr/>
        </p:nvSpPr>
        <p:spPr bwMode="auto">
          <a:xfrm>
            <a:off x="3275856" y="3356992"/>
            <a:ext cx="1728192" cy="576064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>
              <a:latin typeface="Tw Cen MT" pitchFamily="34" charset="0"/>
            </a:endParaRPr>
          </a:p>
        </p:txBody>
      </p:sp>
      <p:sp>
        <p:nvSpPr>
          <p:cNvPr id="8207" name="Line 26"/>
          <p:cNvSpPr>
            <a:spLocks noChangeShapeType="1"/>
          </p:cNvSpPr>
          <p:nvPr/>
        </p:nvSpPr>
        <p:spPr bwMode="auto">
          <a:xfrm rot="3895382" flipH="1" flipV="1">
            <a:off x="3508805" y="4792604"/>
            <a:ext cx="2041212" cy="22511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Picture 7"/>
          <p:cNvPicPr>
            <a:picLocks noChangeAspect="1" noChangeArrowheads="1"/>
          </p:cNvPicPr>
          <p:nvPr/>
        </p:nvPicPr>
        <p:blipFill>
          <a:blip r:embed="rId3" cstate="print"/>
          <a:srcRect l="25878" t="7553" r="69869" b="86567"/>
          <a:stretch>
            <a:fillRect/>
          </a:stretch>
        </p:blipFill>
        <p:spPr bwMode="auto">
          <a:xfrm>
            <a:off x="323528" y="2204865"/>
            <a:ext cx="360040" cy="326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19 CuadroTexto"/>
          <p:cNvSpPr txBox="1"/>
          <p:nvPr/>
        </p:nvSpPr>
        <p:spPr>
          <a:xfrm>
            <a:off x="4099029" y="5877272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Los nombres de campos van entre comillas</a:t>
            </a:r>
          </a:p>
          <a:p>
            <a:r>
              <a:rPr lang="es-ES" sz="1400" dirty="0"/>
              <a:t>Dobles “ ” y los atributos de texto entre comillas</a:t>
            </a:r>
          </a:p>
          <a:p>
            <a:r>
              <a:rPr lang="es-ES" sz="1400" dirty="0"/>
              <a:t>Simples ‘ ‘</a:t>
            </a:r>
          </a:p>
        </p:txBody>
      </p:sp>
      <p:sp>
        <p:nvSpPr>
          <p:cNvPr id="21" name="Line 26"/>
          <p:cNvSpPr>
            <a:spLocks noChangeShapeType="1"/>
          </p:cNvSpPr>
          <p:nvPr/>
        </p:nvSpPr>
        <p:spPr bwMode="auto">
          <a:xfrm rot="3895382">
            <a:off x="5083874" y="2494519"/>
            <a:ext cx="416411" cy="1148881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2" name="21 CuadroTexto"/>
          <p:cNvSpPr txBox="1"/>
          <p:nvPr/>
        </p:nvSpPr>
        <p:spPr>
          <a:xfrm>
            <a:off x="5508104" y="2060848"/>
            <a:ext cx="24336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Selección de la parcela 1 de</a:t>
            </a:r>
          </a:p>
          <a:p>
            <a:r>
              <a:rPr lang="es-ES" sz="1400" dirty="0"/>
              <a:t>Cualquier polígono‘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ctr"/>
            <a:r>
              <a:rPr lang="es-ES" dirty="0"/>
              <a:t>Consultas alfanuméricas</a:t>
            </a:r>
          </a:p>
        </p:txBody>
      </p:sp>
      <p:sp>
        <p:nvSpPr>
          <p:cNvPr id="8199" name="Rectangle 3"/>
          <p:cNvSpPr>
            <a:spLocks noGrp="1"/>
          </p:cNvSpPr>
          <p:nvPr>
            <p:ph type="body" sz="half" idx="4294967295"/>
          </p:nvPr>
        </p:nvSpPr>
        <p:spPr>
          <a:xfrm>
            <a:off x="611560" y="1556792"/>
            <a:ext cx="8207697" cy="499715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s-ES" sz="1800" dirty="0">
                <a:solidFill>
                  <a:schemeClr val="accent1"/>
                </a:solidFill>
              </a:rPr>
              <a:t>Seleccionar todos los municipios de la provincia cuya población sea mayor de 3000 habitantes.</a:t>
            </a:r>
          </a:p>
          <a:p>
            <a:pPr>
              <a:lnSpc>
                <a:spcPct val="90000"/>
              </a:lnSpc>
            </a:pPr>
            <a:r>
              <a:rPr lang="es-ES" sz="1600" dirty="0"/>
              <a:t>“</a:t>
            </a:r>
            <a:r>
              <a:rPr lang="es-ES" sz="1600" dirty="0" err="1"/>
              <a:t>pob</a:t>
            </a:r>
            <a:r>
              <a:rPr lang="es-ES" sz="1600" dirty="0"/>
              <a:t>" &gt; 3000</a:t>
            </a:r>
          </a:p>
          <a:p>
            <a:pPr>
              <a:lnSpc>
                <a:spcPct val="90000"/>
              </a:lnSpc>
            </a:pPr>
            <a:r>
              <a:rPr lang="es-ES" sz="1800" dirty="0">
                <a:solidFill>
                  <a:schemeClr val="accent1"/>
                </a:solidFill>
              </a:rPr>
              <a:t>Operadores de cadena: LIKE/ILIKE, </a:t>
            </a:r>
            <a:r>
              <a:rPr lang="es-ES" sz="1800" dirty="0" err="1">
                <a:solidFill>
                  <a:schemeClr val="accent1"/>
                </a:solidFill>
              </a:rPr>
              <a:t>left</a:t>
            </a:r>
            <a:r>
              <a:rPr lang="es-ES" sz="1800" dirty="0">
                <a:solidFill>
                  <a:schemeClr val="accent1"/>
                </a:solidFill>
              </a:rPr>
              <a:t>, </a:t>
            </a:r>
            <a:r>
              <a:rPr lang="es-ES" sz="1800" dirty="0" err="1">
                <a:solidFill>
                  <a:schemeClr val="accent1"/>
                </a:solidFill>
              </a:rPr>
              <a:t>rigth</a:t>
            </a:r>
            <a:r>
              <a:rPr lang="es-ES" sz="1800" dirty="0">
                <a:solidFill>
                  <a:schemeClr val="accent1"/>
                </a:solidFill>
              </a:rPr>
              <a:t> y </a:t>
            </a:r>
            <a:r>
              <a:rPr lang="es-ES" sz="1800" dirty="0" err="1">
                <a:solidFill>
                  <a:schemeClr val="accent1"/>
                </a:solidFill>
              </a:rPr>
              <a:t>substr</a:t>
            </a:r>
            <a:endParaRPr lang="es-ES" sz="1800" dirty="0">
              <a:solidFill>
                <a:schemeClr val="accent1"/>
              </a:solidFill>
            </a:endParaRPr>
          </a:p>
          <a:p>
            <a:pPr lvl="1">
              <a:lnSpc>
                <a:spcPct val="90000"/>
              </a:lnSpc>
            </a:pPr>
            <a:r>
              <a:rPr lang="es-ES" sz="1800" dirty="0">
                <a:solidFill>
                  <a:schemeClr val="accent1"/>
                </a:solidFill>
              </a:rPr>
              <a:t>LIKE: </a:t>
            </a:r>
            <a:r>
              <a:rPr lang="es-ES" sz="1200" dirty="0"/>
              <a:t>devuelve 1 si el primer parámetro coincide con el patrón proporcionado. También funciona con números. (es case </a:t>
            </a:r>
            <a:r>
              <a:rPr lang="es-ES" sz="1200" dirty="0" err="1"/>
              <a:t>sensitive</a:t>
            </a:r>
            <a:r>
              <a:rPr lang="es-ES" sz="1200" dirty="0"/>
              <a:t>). Uso de % para cualquier carácter:</a:t>
            </a:r>
          </a:p>
          <a:p>
            <a:pPr lvl="2">
              <a:lnSpc>
                <a:spcPct val="90000"/>
              </a:lnSpc>
            </a:pPr>
            <a:r>
              <a:rPr lang="es-ES" sz="1600" dirty="0"/>
              <a:t> “</a:t>
            </a:r>
            <a:r>
              <a:rPr lang="es-ES" sz="1600" dirty="0" err="1"/>
              <a:t>d_muni_ine</a:t>
            </a:r>
            <a:r>
              <a:rPr lang="es-ES" sz="1600" dirty="0"/>
              <a:t>" LIKE ‘%La’</a:t>
            </a:r>
            <a:endParaRPr lang="es-ES" sz="900" dirty="0"/>
          </a:p>
          <a:p>
            <a:pPr lvl="1">
              <a:lnSpc>
                <a:spcPct val="90000"/>
              </a:lnSpc>
            </a:pPr>
            <a:r>
              <a:rPr lang="es-ES" sz="1800" dirty="0" err="1">
                <a:solidFill>
                  <a:schemeClr val="accent1"/>
                </a:solidFill>
              </a:rPr>
              <a:t>Left</a:t>
            </a:r>
            <a:r>
              <a:rPr lang="es-ES" sz="1800" dirty="0">
                <a:solidFill>
                  <a:schemeClr val="accent1"/>
                </a:solidFill>
              </a:rPr>
              <a:t>/ </a:t>
            </a:r>
            <a:r>
              <a:rPr lang="es-ES" sz="1800" dirty="0" err="1">
                <a:solidFill>
                  <a:schemeClr val="accent1"/>
                </a:solidFill>
              </a:rPr>
              <a:t>rigth</a:t>
            </a:r>
            <a:r>
              <a:rPr lang="es-ES" sz="1800" dirty="0">
                <a:solidFill>
                  <a:schemeClr val="accent1"/>
                </a:solidFill>
              </a:rPr>
              <a:t>: </a:t>
            </a:r>
            <a:r>
              <a:rPr lang="es-ES" sz="1200" dirty="0"/>
              <a:t>devuelve una </a:t>
            </a:r>
            <a:r>
              <a:rPr lang="es-ES" sz="1200" dirty="0" err="1"/>
              <a:t>subcadena</a:t>
            </a:r>
            <a:r>
              <a:rPr lang="es-ES" sz="1200" dirty="0"/>
              <a:t> que contiene los n caracteres más a la izquierda/derecha de la cadena.</a:t>
            </a:r>
          </a:p>
          <a:p>
            <a:pPr lvl="1">
              <a:lnSpc>
                <a:spcPct val="90000"/>
              </a:lnSpc>
            </a:pPr>
            <a:r>
              <a:rPr lang="es-ES" sz="1800" dirty="0" err="1">
                <a:solidFill>
                  <a:schemeClr val="accent1"/>
                </a:solidFill>
              </a:rPr>
              <a:t>Substr</a:t>
            </a:r>
            <a:r>
              <a:rPr lang="es-ES" sz="1200" dirty="0"/>
              <a:t>: devuelve una parte de una cadena</a:t>
            </a:r>
          </a:p>
          <a:p>
            <a:pPr lvl="2">
              <a:lnSpc>
                <a:spcPct val="90000"/>
              </a:lnSpc>
            </a:pPr>
            <a:r>
              <a:rPr lang="es-ES" sz="1300" dirty="0">
                <a:solidFill>
                  <a:schemeClr val="accent1"/>
                </a:solidFill>
              </a:rPr>
              <a:t>Seleccionar todos los municipios cuya segunda letra sea una h</a:t>
            </a:r>
          </a:p>
          <a:p>
            <a:pPr lvl="2">
              <a:lnSpc>
                <a:spcPct val="90000"/>
              </a:lnSpc>
            </a:pPr>
            <a:r>
              <a:rPr lang="es-ES" sz="1600" dirty="0" err="1"/>
              <a:t>substr</a:t>
            </a:r>
            <a:r>
              <a:rPr lang="es-ES" sz="1600" dirty="0"/>
              <a:t>("</a:t>
            </a:r>
            <a:r>
              <a:rPr lang="es-ES" sz="1600" dirty="0" err="1"/>
              <a:t>d_muni_ine</a:t>
            </a:r>
            <a:r>
              <a:rPr lang="es-ES" sz="1600" dirty="0"/>
              <a:t>", 2,1) </a:t>
            </a:r>
            <a:r>
              <a:rPr lang="es-ES" sz="1600" dirty="0" err="1"/>
              <a:t>like</a:t>
            </a:r>
            <a:r>
              <a:rPr lang="es-ES" sz="1600" dirty="0"/>
              <a:t> 'h'</a:t>
            </a:r>
          </a:p>
          <a:p>
            <a:pPr>
              <a:lnSpc>
                <a:spcPct val="90000"/>
              </a:lnSpc>
            </a:pPr>
            <a:r>
              <a:rPr lang="es-ES" sz="1800" dirty="0">
                <a:solidFill>
                  <a:schemeClr val="accent1"/>
                </a:solidFill>
              </a:rPr>
              <a:t>Operador de concatenación CONCAT</a:t>
            </a:r>
          </a:p>
          <a:p>
            <a:pPr lvl="1">
              <a:lnSpc>
                <a:spcPct val="90000"/>
              </a:lnSpc>
            </a:pPr>
            <a:r>
              <a:rPr lang="es-ES" sz="1600" dirty="0">
                <a:solidFill>
                  <a:schemeClr val="accent1"/>
                </a:solidFill>
              </a:rPr>
              <a:t> </a:t>
            </a:r>
            <a:r>
              <a:rPr lang="it-IT" sz="1600" dirty="0"/>
              <a:t>concat(  "c_muni_ine" ,'-', "d_muni_ine" )</a:t>
            </a:r>
            <a:r>
              <a:rPr lang="es-ES" sz="1600" dirty="0"/>
              <a:t>'</a:t>
            </a:r>
            <a:endParaRPr lang="es-ES" sz="1800" dirty="0"/>
          </a:p>
          <a:p>
            <a:pPr>
              <a:lnSpc>
                <a:spcPct val="90000"/>
              </a:lnSpc>
            </a:pPr>
            <a:r>
              <a:rPr lang="es-ES" sz="1800" dirty="0">
                <a:solidFill>
                  <a:schemeClr val="accent1"/>
                </a:solidFill>
              </a:rPr>
              <a:t>Encontrar duplicados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count ( “campo" ,</a:t>
            </a:r>
            <a:r>
              <a:rPr lang="en-US" sz="1600" dirty="0" err="1"/>
              <a:t>group_by</a:t>
            </a:r>
            <a:r>
              <a:rPr lang="en-US" sz="1600" dirty="0"/>
              <a:t>:=“campo" )&gt;1</a:t>
            </a:r>
          </a:p>
          <a:p>
            <a:pPr>
              <a:lnSpc>
                <a:spcPct val="90000"/>
              </a:lnSpc>
            </a:pPr>
            <a:endParaRPr lang="es-ES" sz="25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ctr"/>
            <a:r>
              <a:rPr lang="es-ES" dirty="0"/>
              <a:t>Consultas alfanuméricas</a:t>
            </a:r>
          </a:p>
        </p:txBody>
      </p:sp>
      <p:sp>
        <p:nvSpPr>
          <p:cNvPr id="8199" name="Rectangle 3"/>
          <p:cNvSpPr>
            <a:spLocks noGrp="1"/>
          </p:cNvSpPr>
          <p:nvPr>
            <p:ph type="body" sz="half" idx="4294967295"/>
          </p:nvPr>
        </p:nvSpPr>
        <p:spPr>
          <a:xfrm>
            <a:off x="612774" y="1600200"/>
            <a:ext cx="8207697" cy="4997152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s-ES" sz="2800" dirty="0">
                <a:solidFill>
                  <a:schemeClr val="accent1"/>
                </a:solidFill>
              </a:rPr>
              <a:t>Uso de operadores “OR” , “AND” y ”NOT”</a:t>
            </a:r>
          </a:p>
          <a:p>
            <a:pPr>
              <a:lnSpc>
                <a:spcPct val="90000"/>
              </a:lnSpc>
            </a:pPr>
            <a:r>
              <a:rPr lang="es-ES" sz="2800" dirty="0">
                <a:solidFill>
                  <a:schemeClr val="accent1"/>
                </a:solidFill>
              </a:rPr>
              <a:t>NOT </a:t>
            </a:r>
            <a:r>
              <a:rPr lang="es-ES" sz="2200" dirty="0"/>
              <a:t>Niega una condición:</a:t>
            </a:r>
          </a:p>
          <a:p>
            <a:pPr lvl="2">
              <a:lnSpc>
                <a:spcPct val="90000"/>
              </a:lnSpc>
            </a:pPr>
            <a:r>
              <a:rPr lang="en-US" sz="1900" dirty="0"/>
              <a:t> </a:t>
            </a:r>
            <a:r>
              <a:rPr lang="es-ES" sz="2000" dirty="0" err="1"/>
              <a:t>substr</a:t>
            </a:r>
            <a:r>
              <a:rPr lang="es-ES" sz="2000" dirty="0"/>
              <a:t>("</a:t>
            </a:r>
            <a:r>
              <a:rPr lang="es-ES" sz="2000" dirty="0" err="1"/>
              <a:t>d_muni_ine</a:t>
            </a:r>
            <a:r>
              <a:rPr lang="es-ES" sz="2000" dirty="0"/>
              <a:t>", 2,1) </a:t>
            </a:r>
            <a:r>
              <a:rPr lang="es-ES" sz="2000" dirty="0" err="1"/>
              <a:t>not</a:t>
            </a:r>
            <a:r>
              <a:rPr lang="es-ES" sz="2000" dirty="0"/>
              <a:t> </a:t>
            </a:r>
            <a:r>
              <a:rPr lang="es-ES" sz="2000" dirty="0" err="1"/>
              <a:t>like</a:t>
            </a:r>
            <a:r>
              <a:rPr lang="es-ES" sz="2000" dirty="0"/>
              <a:t> 'h'</a:t>
            </a:r>
          </a:p>
          <a:p>
            <a:pPr>
              <a:lnSpc>
                <a:spcPct val="90000"/>
              </a:lnSpc>
            </a:pPr>
            <a:r>
              <a:rPr lang="es-ES" sz="2800" dirty="0">
                <a:solidFill>
                  <a:schemeClr val="accent1"/>
                </a:solidFill>
              </a:rPr>
              <a:t>OR</a:t>
            </a:r>
            <a:r>
              <a:rPr lang="es-ES" sz="2500" dirty="0">
                <a:solidFill>
                  <a:schemeClr val="accent1"/>
                </a:solidFill>
              </a:rPr>
              <a:t> </a:t>
            </a:r>
            <a:r>
              <a:rPr lang="es-ES" sz="2200" dirty="0"/>
              <a:t>Devuelve valor cuando la condición a o la b es verdadera.</a:t>
            </a:r>
          </a:p>
          <a:p>
            <a:pPr lvl="1">
              <a:lnSpc>
                <a:spcPct val="90000"/>
              </a:lnSpc>
            </a:pPr>
            <a:r>
              <a:rPr lang="en-US" sz="1800" dirty="0" err="1"/>
              <a:t>substr</a:t>
            </a:r>
            <a:r>
              <a:rPr lang="en-US" sz="1800" dirty="0"/>
              <a:t>("</a:t>
            </a:r>
            <a:r>
              <a:rPr lang="en-US" sz="1800" dirty="0" err="1"/>
              <a:t>d_muni_ine</a:t>
            </a:r>
            <a:r>
              <a:rPr lang="en-US" sz="1800" dirty="0"/>
              <a:t>", 2,1) like 'h' and </a:t>
            </a:r>
            <a:r>
              <a:rPr lang="en-US" sz="1800" dirty="0" err="1"/>
              <a:t>substr</a:t>
            </a:r>
            <a:r>
              <a:rPr lang="en-US" sz="1800" dirty="0"/>
              <a:t>("</a:t>
            </a:r>
            <a:r>
              <a:rPr lang="en-US" sz="1800" dirty="0" err="1"/>
              <a:t>d_muni_ine</a:t>
            </a:r>
            <a:r>
              <a:rPr lang="en-US" sz="1800" dirty="0"/>
              <a:t>", 2,1) like ‘a'</a:t>
            </a:r>
          </a:p>
          <a:p>
            <a:pPr lvl="1">
              <a:lnSpc>
                <a:spcPct val="90000"/>
              </a:lnSpc>
              <a:buNone/>
            </a:pPr>
            <a:endParaRPr lang="es-ES" sz="1900" dirty="0"/>
          </a:p>
          <a:p>
            <a:pPr>
              <a:lnSpc>
                <a:spcPct val="90000"/>
              </a:lnSpc>
            </a:pPr>
            <a:r>
              <a:rPr lang="es-ES" sz="2800" dirty="0">
                <a:solidFill>
                  <a:schemeClr val="accent1"/>
                </a:solidFill>
              </a:rPr>
              <a:t>AND </a:t>
            </a:r>
            <a:r>
              <a:rPr lang="es-ES" sz="2200" dirty="0"/>
              <a:t>Devuelve valor cuando las condiciones a y b son verdaderas.</a:t>
            </a:r>
          </a:p>
          <a:p>
            <a:pPr lvl="1">
              <a:lnSpc>
                <a:spcPct val="90000"/>
              </a:lnSpc>
            </a:pPr>
            <a:r>
              <a:rPr lang="en-US" sz="2000" dirty="0" err="1"/>
              <a:t>substr</a:t>
            </a:r>
            <a:r>
              <a:rPr lang="en-US" sz="2000" dirty="0"/>
              <a:t>("</a:t>
            </a:r>
            <a:r>
              <a:rPr lang="en-US" sz="2000" dirty="0" err="1"/>
              <a:t>d_muni_ine</a:t>
            </a:r>
            <a:r>
              <a:rPr lang="en-US" sz="2000" dirty="0"/>
              <a:t>", 2,1) like 'h' and </a:t>
            </a:r>
            <a:r>
              <a:rPr lang="en-US" sz="2000" dirty="0" err="1"/>
              <a:t>substr</a:t>
            </a:r>
            <a:r>
              <a:rPr lang="en-US" sz="2000" dirty="0"/>
              <a:t>("</a:t>
            </a:r>
            <a:r>
              <a:rPr lang="en-US" sz="2000" dirty="0" err="1"/>
              <a:t>d_muni_ine</a:t>
            </a:r>
            <a:r>
              <a:rPr lang="en-US" sz="2000" dirty="0"/>
              <a:t>", 2,1) like 'x'</a:t>
            </a:r>
          </a:p>
          <a:p>
            <a:pPr lvl="1">
              <a:lnSpc>
                <a:spcPct val="90000"/>
              </a:lnSpc>
            </a:pPr>
            <a:endParaRPr lang="es-ES" sz="2000" dirty="0"/>
          </a:p>
          <a:p>
            <a:pPr lvl="1">
              <a:lnSpc>
                <a:spcPct val="90000"/>
              </a:lnSpc>
            </a:pPr>
            <a:endParaRPr lang="es-ES" sz="2000" dirty="0"/>
          </a:p>
        </p:txBody>
      </p:sp>
      <p:pic>
        <p:nvPicPr>
          <p:cNvPr id="1026" name="Picture 2" descr="Advanced Search Techni... | Klingemann Library LibGuides">
            <a:extLst>
              <a:ext uri="{FF2B5EF4-FFF2-40B4-BE49-F238E27FC236}">
                <a16:creationId xmlns:a16="http://schemas.microsoft.com/office/drawing/2014/main" id="{6498C450-BF7E-99A2-3E77-7EA5101D9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5500334"/>
            <a:ext cx="4008487" cy="1145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ctr"/>
            <a:r>
              <a:rPr lang="es-ES" dirty="0"/>
              <a:t>Edición de tablas</a:t>
            </a:r>
          </a:p>
        </p:txBody>
      </p:sp>
      <p:sp>
        <p:nvSpPr>
          <p:cNvPr id="11268" name="Rectangle 3"/>
          <p:cNvSpPr>
            <a:spLocks noGrp="1"/>
          </p:cNvSpPr>
          <p:nvPr>
            <p:ph type="body" idx="4294967295"/>
          </p:nvPr>
        </p:nvSpPr>
        <p:spPr>
          <a:xfrm>
            <a:off x="612775" y="1600200"/>
            <a:ext cx="2806700" cy="4603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s-ES" sz="2500">
                <a:solidFill>
                  <a:schemeClr val="accent1"/>
                </a:solidFill>
              </a:rPr>
              <a:t>Edición de tablas</a:t>
            </a:r>
          </a:p>
        </p:txBody>
      </p:sp>
      <p:sp>
        <p:nvSpPr>
          <p:cNvPr id="11269" name="Rectangle 6"/>
          <p:cNvSpPr>
            <a:spLocks noChangeArrowheads="1"/>
          </p:cNvSpPr>
          <p:nvPr/>
        </p:nvSpPr>
        <p:spPr bwMode="auto">
          <a:xfrm>
            <a:off x="395288" y="2133601"/>
            <a:ext cx="424815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58775" lvl="2"/>
            <a:r>
              <a:rPr lang="es-ES" sz="1600" dirty="0">
                <a:latin typeface="Tw Cen MT" pitchFamily="34" charset="0"/>
              </a:rPr>
              <a:t>Se entiende por editar una tabla al proceso de modificar cualquiera de sus </a:t>
            </a:r>
            <a:r>
              <a:rPr lang="es-ES" sz="1600" b="1" dirty="0">
                <a:latin typeface="Tw Cen MT" pitchFamily="34" charset="0"/>
              </a:rPr>
              <a:t>propiedades estructurales</a:t>
            </a:r>
            <a:r>
              <a:rPr lang="es-ES" sz="1600" dirty="0">
                <a:latin typeface="Tw Cen MT" pitchFamily="34" charset="0"/>
              </a:rPr>
              <a:t> (número y tipología de los campos) o bien las de los </a:t>
            </a:r>
            <a:r>
              <a:rPr lang="es-ES" sz="1600" b="1" dirty="0">
                <a:latin typeface="Tw Cen MT" pitchFamily="34" charset="0"/>
              </a:rPr>
              <a:t>atributos de las entidades</a:t>
            </a:r>
            <a:r>
              <a:rPr lang="es-ES" sz="1600" dirty="0">
                <a:latin typeface="Tw Cen MT" pitchFamily="34" charset="0"/>
              </a:rPr>
              <a:t> que representan.</a:t>
            </a:r>
          </a:p>
          <a:p>
            <a:pPr marL="358775" lvl="2"/>
            <a:endParaRPr lang="es-ES" sz="1600" dirty="0">
              <a:latin typeface="Tw Cen MT" pitchFamily="34" charset="0"/>
            </a:endParaRPr>
          </a:p>
          <a:p>
            <a:pPr marL="358775" lvl="2"/>
            <a:r>
              <a:rPr lang="es-ES" sz="1600" dirty="0">
                <a:latin typeface="Tw Cen MT" pitchFamily="34" charset="0"/>
              </a:rPr>
              <a:t>Para comenzar la edición hay que tener la capa o la capa en modo “edición” .</a:t>
            </a:r>
          </a:p>
          <a:p>
            <a:pPr marL="358775" lvl="2"/>
            <a:endParaRPr lang="es-ES" sz="1600" dirty="0">
              <a:latin typeface="Tw Cen MT" pitchFamily="34" charset="0"/>
            </a:endParaRPr>
          </a:p>
          <a:p>
            <a:pPr marL="358775" lvl="2"/>
            <a:endParaRPr lang="es-ES" sz="1600" dirty="0">
              <a:latin typeface="Tw Cen MT" pitchFamily="34" charset="0"/>
            </a:endParaRPr>
          </a:p>
        </p:txBody>
      </p:sp>
      <p:sp>
        <p:nvSpPr>
          <p:cNvPr id="11271" name="Line 9"/>
          <p:cNvSpPr>
            <a:spLocks noChangeShapeType="1"/>
          </p:cNvSpPr>
          <p:nvPr/>
        </p:nvSpPr>
        <p:spPr bwMode="auto">
          <a:xfrm flipV="1">
            <a:off x="4139952" y="2564904"/>
            <a:ext cx="575568" cy="100811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793" y="2060848"/>
            <a:ext cx="4201695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2" name="Oval 10"/>
          <p:cNvSpPr>
            <a:spLocks noChangeArrowheads="1"/>
          </p:cNvSpPr>
          <p:nvPr/>
        </p:nvSpPr>
        <p:spPr bwMode="auto">
          <a:xfrm>
            <a:off x="4644009" y="2204864"/>
            <a:ext cx="504056" cy="360809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>
              <a:latin typeface="Tw Cen MT" pitchFamily="34" charset="0"/>
            </a:endParaRPr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3923928" y="5157192"/>
            <a:ext cx="403244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58775" lvl="2"/>
            <a:r>
              <a:rPr lang="es-ES" sz="1600" dirty="0">
                <a:latin typeface="Tw Cen MT" pitchFamily="34" charset="0"/>
              </a:rPr>
              <a:t>Una vez activado el modo edición se puede modificar un registro situándose sobre el valor del mismo en la celda</a:t>
            </a:r>
          </a:p>
          <a:p>
            <a:pPr marL="358775" lvl="2"/>
            <a:endParaRPr lang="es-ES" sz="1600" dirty="0">
              <a:latin typeface="Tw Cen MT" pitchFamily="34" charset="0"/>
            </a:endParaRPr>
          </a:p>
          <a:p>
            <a:pPr marL="358775" lvl="2"/>
            <a:endParaRPr lang="es-ES" sz="1600" dirty="0">
              <a:latin typeface="Tw Cen MT" pitchFamily="34" charset="0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3" cstate="print"/>
          <a:srcRect t="15295" r="49577" b="60347"/>
          <a:stretch>
            <a:fillRect/>
          </a:stretch>
        </p:blipFill>
        <p:spPr bwMode="auto">
          <a:xfrm>
            <a:off x="4139952" y="5949280"/>
            <a:ext cx="3384376" cy="80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Oval 10"/>
          <p:cNvSpPr>
            <a:spLocks noChangeArrowheads="1"/>
          </p:cNvSpPr>
          <p:nvPr/>
        </p:nvSpPr>
        <p:spPr bwMode="auto">
          <a:xfrm>
            <a:off x="5508104" y="6309321"/>
            <a:ext cx="864096" cy="288032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>
              <a:latin typeface="Tw Cen MT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ctr"/>
            <a:r>
              <a:rPr lang="es-ES" dirty="0"/>
              <a:t>Edición de tablas (II)</a:t>
            </a:r>
          </a:p>
        </p:txBody>
      </p:sp>
      <p:sp>
        <p:nvSpPr>
          <p:cNvPr id="12292" name="Rectangle 3"/>
          <p:cNvSpPr>
            <a:spLocks noGrp="1"/>
          </p:cNvSpPr>
          <p:nvPr>
            <p:ph type="body" sz="half" idx="4294967295"/>
          </p:nvPr>
        </p:nvSpPr>
        <p:spPr>
          <a:xfrm>
            <a:off x="612774" y="1600200"/>
            <a:ext cx="7271593" cy="5069160"/>
          </a:xfrm>
        </p:spPr>
        <p:txBody>
          <a:bodyPr/>
          <a:lstStyle/>
          <a:p>
            <a:r>
              <a:rPr lang="es-ES" sz="2500" dirty="0"/>
              <a:t>Crear un nuevo campo</a:t>
            </a:r>
          </a:p>
          <a:p>
            <a:pPr lvl="1"/>
            <a:r>
              <a:rPr lang="es-ES" sz="2400" dirty="0">
                <a:latin typeface="Tw Cen MT" pitchFamily="34" charset="0"/>
              </a:rPr>
              <a:t>Se pueden crear campos mediante la herramienta “campo nuevo”        o en el momento de realizar cálculos.</a:t>
            </a:r>
          </a:p>
          <a:p>
            <a:pPr lvl="1"/>
            <a:r>
              <a:rPr lang="es-ES" sz="2200" dirty="0"/>
              <a:t>Tipos de datos:</a:t>
            </a:r>
          </a:p>
          <a:p>
            <a:pPr lvl="2"/>
            <a:r>
              <a:rPr lang="es-ES" sz="2000" dirty="0"/>
              <a:t> Número entero: -32.768 a 32.767</a:t>
            </a:r>
          </a:p>
          <a:p>
            <a:pPr lvl="2"/>
            <a:r>
              <a:rPr lang="es-ES" sz="2000" dirty="0"/>
              <a:t>Entero 64 bit:  -2.147.483.648 a 2.147.483.647</a:t>
            </a:r>
          </a:p>
          <a:p>
            <a:pPr lvl="2"/>
            <a:r>
              <a:rPr lang="es-ES" sz="2000" dirty="0"/>
              <a:t>Decimal (real):</a:t>
            </a:r>
          </a:p>
          <a:p>
            <a:pPr lvl="3"/>
            <a:r>
              <a:rPr lang="es-ES" sz="1800" dirty="0"/>
              <a:t>Longitud: indica el número de dígitos que se puede almacenar en el campo</a:t>
            </a:r>
          </a:p>
          <a:p>
            <a:pPr lvl="3"/>
            <a:r>
              <a:rPr lang="es-ES" sz="1800" dirty="0"/>
              <a:t> Precisión: número de decimales que presenta el campo</a:t>
            </a:r>
          </a:p>
          <a:p>
            <a:pPr lvl="2"/>
            <a:r>
              <a:rPr lang="es-ES" sz="2400" dirty="0"/>
              <a:t> </a:t>
            </a:r>
            <a:r>
              <a:rPr lang="es-ES" sz="2000" dirty="0"/>
              <a:t>Texto: cadena de caracteres</a:t>
            </a:r>
          </a:p>
          <a:p>
            <a:pPr lvl="2"/>
            <a:r>
              <a:rPr lang="es-ES" sz="2000" dirty="0"/>
              <a:t> Fecha:  formato por defecto YYYY-MM-DD</a:t>
            </a:r>
            <a:br>
              <a:rPr lang="es-ES" sz="2400" dirty="0"/>
            </a:br>
            <a:br>
              <a:rPr lang="es-ES" sz="2400" dirty="0"/>
            </a:br>
            <a:endParaRPr lang="es-ES" sz="2400" dirty="0">
              <a:latin typeface="Tw Cen MT" pitchFamily="34" charset="0"/>
            </a:endParaRPr>
          </a:p>
          <a:p>
            <a:pPr lvl="2"/>
            <a:endParaRPr lang="es-ES" sz="2400" dirty="0"/>
          </a:p>
          <a:p>
            <a:pPr lvl="2"/>
            <a:endParaRPr lang="es-ES" dirty="0"/>
          </a:p>
          <a:p>
            <a:pPr lvl="2"/>
            <a:endParaRPr lang="es-ES" sz="2000" dirty="0"/>
          </a:p>
          <a:p>
            <a:pPr lvl="2"/>
            <a:endParaRPr lang="es-ES" sz="1900" dirty="0"/>
          </a:p>
        </p:txBody>
      </p:sp>
      <p:grpSp>
        <p:nvGrpSpPr>
          <p:cNvPr id="9" name="8 Grupo"/>
          <p:cNvGrpSpPr/>
          <p:nvPr/>
        </p:nvGrpSpPr>
        <p:grpSpPr>
          <a:xfrm>
            <a:off x="3347864" y="2420888"/>
            <a:ext cx="7056784" cy="2806571"/>
            <a:chOff x="2699792" y="4402273"/>
            <a:chExt cx="7056784" cy="2806571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5724128" y="6562513"/>
              <a:ext cx="4032448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358775" lvl="2"/>
              <a:endParaRPr lang="es-ES" dirty="0">
                <a:latin typeface="Tw Cen MT" pitchFamily="34" charset="0"/>
              </a:endParaRPr>
            </a:p>
            <a:p>
              <a:pPr marL="358775" lvl="2"/>
              <a:endParaRPr lang="es-ES" dirty="0">
                <a:latin typeface="Tw Cen MT" pitchFamily="34" charset="0"/>
              </a:endParaRPr>
            </a:p>
          </p:txBody>
        </p:sp>
        <p:pic>
          <p:nvPicPr>
            <p:cNvPr id="8" name="Picture 6"/>
            <p:cNvPicPr>
              <a:picLocks noChangeAspect="1" noChangeArrowheads="1"/>
            </p:cNvPicPr>
            <p:nvPr/>
          </p:nvPicPr>
          <p:blipFill>
            <a:blip r:embed="rId2" cstate="print"/>
            <a:srcRect l="38078" t="13579" r="59918" b="74450"/>
            <a:stretch>
              <a:fillRect/>
            </a:stretch>
          </p:blipFill>
          <p:spPr bwMode="auto">
            <a:xfrm>
              <a:off x="2699792" y="4402273"/>
              <a:ext cx="360040" cy="4638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ctr"/>
            <a:r>
              <a:rPr lang="es-ES" sz="3600" dirty="0"/>
              <a:t>Calculadora de campos</a:t>
            </a:r>
          </a:p>
        </p:txBody>
      </p:sp>
      <p:sp>
        <p:nvSpPr>
          <p:cNvPr id="14341" name="Rectangle 3"/>
          <p:cNvSpPr>
            <a:spLocks noGrp="1"/>
          </p:cNvSpPr>
          <p:nvPr>
            <p:ph type="body" sz="half" idx="4294967295"/>
          </p:nvPr>
        </p:nvSpPr>
        <p:spPr>
          <a:xfrm>
            <a:off x="612774" y="1600200"/>
            <a:ext cx="7559625" cy="4525963"/>
          </a:xfrm>
        </p:spPr>
        <p:txBody>
          <a:bodyPr/>
          <a:lstStyle/>
          <a:p>
            <a:r>
              <a:rPr lang="es-ES" sz="2500" dirty="0"/>
              <a:t>Basada en el diálogo del generador de expresiones de consulta, permite definir una expresión y aplicarla a un campo existente o creado recientemente</a:t>
            </a:r>
          </a:p>
          <a:p>
            <a:pPr lvl="1">
              <a:buNone/>
            </a:pPr>
            <a:endParaRPr lang="es-ES" sz="2200" dirty="0"/>
          </a:p>
          <a:p>
            <a:pPr lvl="1">
              <a:buNone/>
            </a:pPr>
            <a:r>
              <a:rPr lang="es-ES" sz="2200" b="1" dirty="0"/>
              <a:t>OPCIONES</a:t>
            </a:r>
          </a:p>
          <a:p>
            <a:pPr lvl="1"/>
            <a:r>
              <a:rPr lang="es-ES" sz="2200" dirty="0"/>
              <a:t>Actualizar un campo existente: todos o sólo las registros seleccionadas. </a:t>
            </a:r>
          </a:p>
          <a:p>
            <a:pPr lvl="1"/>
            <a:r>
              <a:rPr lang="es-ES" sz="2200" dirty="0"/>
              <a:t>Crear un nuevo campo donde se agregarán los resultados del cálculo.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628800"/>
            <a:ext cx="6243645" cy="4506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Calculadora de campos (II)</a:t>
            </a:r>
          </a:p>
        </p:txBody>
      </p:sp>
      <p:sp>
        <p:nvSpPr>
          <p:cNvPr id="6" name="Line 15"/>
          <p:cNvSpPr>
            <a:spLocks noChangeShapeType="1"/>
          </p:cNvSpPr>
          <p:nvPr/>
        </p:nvSpPr>
        <p:spPr bwMode="auto">
          <a:xfrm flipH="1" flipV="1">
            <a:off x="4788024" y="2204863"/>
            <a:ext cx="2160240" cy="7200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7" name="Oval 16"/>
          <p:cNvSpPr>
            <a:spLocks noChangeArrowheads="1"/>
          </p:cNvSpPr>
          <p:nvPr/>
        </p:nvSpPr>
        <p:spPr bwMode="auto">
          <a:xfrm>
            <a:off x="4427984" y="2060849"/>
            <a:ext cx="360040" cy="216024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>
              <a:latin typeface="Tw Cen MT" pitchFamily="34" charset="0"/>
            </a:endParaRPr>
          </a:p>
        </p:txBody>
      </p:sp>
      <p:sp>
        <p:nvSpPr>
          <p:cNvPr id="8" name="Oval 17"/>
          <p:cNvSpPr>
            <a:spLocks noChangeArrowheads="1"/>
          </p:cNvSpPr>
          <p:nvPr/>
        </p:nvSpPr>
        <p:spPr bwMode="auto">
          <a:xfrm>
            <a:off x="2699792" y="2420888"/>
            <a:ext cx="864096" cy="216024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>
              <a:latin typeface="Tw Cen MT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6948264" y="1916832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Sobre campo </a:t>
            </a:r>
          </a:p>
          <a:p>
            <a:r>
              <a:rPr lang="es-ES" dirty="0"/>
              <a:t>existente</a:t>
            </a:r>
          </a:p>
        </p:txBody>
      </p:sp>
      <p:sp>
        <p:nvSpPr>
          <p:cNvPr id="10" name="Line 15"/>
          <p:cNvSpPr>
            <a:spLocks noChangeShapeType="1"/>
          </p:cNvSpPr>
          <p:nvPr/>
        </p:nvSpPr>
        <p:spPr bwMode="auto">
          <a:xfrm flipV="1">
            <a:off x="971600" y="2564903"/>
            <a:ext cx="1728192" cy="50405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11" name="10 CuadroTexto"/>
          <p:cNvSpPr txBox="1"/>
          <p:nvPr/>
        </p:nvSpPr>
        <p:spPr>
          <a:xfrm>
            <a:off x="107504" y="2636912"/>
            <a:ext cx="1152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Crea un </a:t>
            </a:r>
          </a:p>
          <a:p>
            <a:r>
              <a:rPr lang="es-ES" dirty="0"/>
              <a:t>campo</a:t>
            </a:r>
          </a:p>
          <a:p>
            <a:r>
              <a:rPr lang="es-ES" dirty="0"/>
              <a:t> nuevo</a:t>
            </a:r>
          </a:p>
        </p:txBody>
      </p:sp>
      <p:sp>
        <p:nvSpPr>
          <p:cNvPr id="16" name="Oval 17"/>
          <p:cNvSpPr>
            <a:spLocks noChangeArrowheads="1"/>
          </p:cNvSpPr>
          <p:nvPr/>
        </p:nvSpPr>
        <p:spPr bwMode="auto">
          <a:xfrm>
            <a:off x="2123728" y="3717032"/>
            <a:ext cx="1944216" cy="936104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>
              <a:latin typeface="Tw Cen MT" pitchFamily="34" charset="0"/>
            </a:endParaRPr>
          </a:p>
        </p:txBody>
      </p:sp>
      <p:sp>
        <p:nvSpPr>
          <p:cNvPr id="17" name="16 CuadroTexto"/>
          <p:cNvSpPr txBox="1"/>
          <p:nvPr/>
        </p:nvSpPr>
        <p:spPr>
          <a:xfrm>
            <a:off x="2483768" y="3717032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Cuadro de expresiones de cálculo</a:t>
            </a: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4644008" y="3140968"/>
            <a:ext cx="1044624" cy="1800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>
              <a:latin typeface="Tw Cen MT" pitchFamily="34" charset="0"/>
            </a:endParaRPr>
          </a:p>
        </p:txBody>
      </p:sp>
      <p:sp>
        <p:nvSpPr>
          <p:cNvPr id="19" name="Line 15"/>
          <p:cNvSpPr>
            <a:spLocks noChangeShapeType="1"/>
          </p:cNvSpPr>
          <p:nvPr/>
        </p:nvSpPr>
        <p:spPr bwMode="auto">
          <a:xfrm flipV="1">
            <a:off x="4139952" y="4941167"/>
            <a:ext cx="936104" cy="136815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0" name="19 CuadroTexto"/>
          <p:cNvSpPr txBox="1"/>
          <p:nvPr/>
        </p:nvSpPr>
        <p:spPr>
          <a:xfrm>
            <a:off x="2987824" y="6237312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Cuadro de funciones</a:t>
            </a:r>
          </a:p>
        </p:txBody>
      </p:sp>
      <p:sp>
        <p:nvSpPr>
          <p:cNvPr id="21" name="Oval 17"/>
          <p:cNvSpPr>
            <a:spLocks noChangeArrowheads="1"/>
          </p:cNvSpPr>
          <p:nvPr/>
        </p:nvSpPr>
        <p:spPr bwMode="auto">
          <a:xfrm>
            <a:off x="6012160" y="3284984"/>
            <a:ext cx="1620688" cy="1800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>
              <a:latin typeface="Tw Cen MT" pitchFamily="34" charset="0"/>
            </a:endParaRPr>
          </a:p>
        </p:txBody>
      </p:sp>
      <p:sp>
        <p:nvSpPr>
          <p:cNvPr id="22" name="Line 15"/>
          <p:cNvSpPr>
            <a:spLocks noChangeShapeType="1"/>
          </p:cNvSpPr>
          <p:nvPr/>
        </p:nvSpPr>
        <p:spPr bwMode="auto">
          <a:xfrm flipH="1" flipV="1">
            <a:off x="6948264" y="5085184"/>
            <a:ext cx="936104" cy="1296144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3" name="22 CuadroTexto"/>
          <p:cNvSpPr txBox="1"/>
          <p:nvPr/>
        </p:nvSpPr>
        <p:spPr>
          <a:xfrm>
            <a:off x="6876256" y="6309320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Cuadro de ayuda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Calculadora de campos (III). </a:t>
            </a:r>
            <a:r>
              <a:rPr lang="es-ES" sz="3200" dirty="0"/>
              <a:t>Funciones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8138864" cy="5151802"/>
          </a:xfrm>
        </p:spPr>
        <p:txBody>
          <a:bodyPr/>
          <a:lstStyle/>
          <a:p>
            <a:pPr>
              <a:buNone/>
            </a:pPr>
            <a:r>
              <a:rPr lang="es-ES" sz="1600" dirty="0">
                <a:hlinkClick r:id="rId2"/>
              </a:rPr>
              <a:t>https://docs.qgis.org/2.18/es/docs/user_manual/working_with_vector/expression.html</a:t>
            </a:r>
            <a:endParaRPr lang="es-ES" sz="1600" dirty="0"/>
          </a:p>
          <a:p>
            <a:pPr>
              <a:buNone/>
            </a:pPr>
            <a:r>
              <a:rPr lang="es-ES" sz="1400" dirty="0"/>
              <a:t>“</a:t>
            </a:r>
            <a:r>
              <a:rPr lang="es-ES" sz="1600" b="1" dirty="0"/>
              <a:t>Geometría</a:t>
            </a:r>
            <a:r>
              <a:rPr lang="es-ES" sz="1400" dirty="0"/>
              <a:t>” : Los operadores de geometría se convierten en atributos de la tabla, no se actualizan automáticamente</a:t>
            </a:r>
          </a:p>
          <a:p>
            <a:pPr lvl="1"/>
            <a:r>
              <a:rPr lang="es-ES" sz="1100" dirty="0"/>
              <a:t>Cálculo de área en una capa de polígonos:  $</a:t>
            </a:r>
            <a:r>
              <a:rPr lang="es-ES" sz="1100" dirty="0" err="1"/>
              <a:t>area</a:t>
            </a:r>
            <a:endParaRPr lang="es-ES" sz="1100" dirty="0"/>
          </a:p>
          <a:p>
            <a:pPr lvl="1"/>
            <a:r>
              <a:rPr lang="es-ES" sz="1100" dirty="0"/>
              <a:t>Cálculo del perímetro en una capa de polígonos:   $</a:t>
            </a:r>
            <a:r>
              <a:rPr lang="es-ES" sz="1100" dirty="0" err="1"/>
              <a:t>perimeter</a:t>
            </a:r>
            <a:r>
              <a:rPr lang="es-ES" sz="1100" dirty="0"/>
              <a:t> </a:t>
            </a:r>
          </a:p>
          <a:p>
            <a:pPr lvl="1"/>
            <a:r>
              <a:rPr lang="es-ES" sz="1100" dirty="0"/>
              <a:t>Cálculo de la longitud en una capa de líneas:  $</a:t>
            </a:r>
            <a:r>
              <a:rPr lang="es-ES" sz="1100" dirty="0" err="1"/>
              <a:t>length</a:t>
            </a:r>
            <a:r>
              <a:rPr lang="es-ES" sz="1100" dirty="0"/>
              <a:t> </a:t>
            </a:r>
          </a:p>
          <a:p>
            <a:pPr lvl="1"/>
            <a:r>
              <a:rPr lang="es-ES" sz="1100" dirty="0"/>
              <a:t>Cálculo de la coordenada X en una capa de puntos :   $x </a:t>
            </a:r>
          </a:p>
          <a:p>
            <a:pPr lvl="1"/>
            <a:r>
              <a:rPr lang="es-ES" sz="1100" dirty="0"/>
              <a:t>Cálculo de la coordenada Y en una capa de puntos :   $y</a:t>
            </a:r>
          </a:p>
          <a:p>
            <a:pPr lvl="1"/>
            <a:r>
              <a:rPr lang="es-ES" sz="1100" dirty="0"/>
              <a:t>Cálculo de la coordenada X del </a:t>
            </a:r>
            <a:r>
              <a:rPr lang="es-ES" sz="1100" dirty="0" err="1"/>
              <a:t>centroide</a:t>
            </a:r>
            <a:r>
              <a:rPr lang="es-ES" sz="1100" dirty="0"/>
              <a:t> de una capa de polígonos: </a:t>
            </a:r>
            <a:r>
              <a:rPr lang="es-ES" sz="1100" dirty="0" err="1"/>
              <a:t>xmin</a:t>
            </a:r>
            <a:r>
              <a:rPr lang="es-ES" sz="1100" dirty="0"/>
              <a:t>(</a:t>
            </a:r>
            <a:r>
              <a:rPr lang="es-ES" sz="1100" dirty="0" err="1"/>
              <a:t>centroid</a:t>
            </a:r>
            <a:r>
              <a:rPr lang="es-ES" sz="1100" dirty="0"/>
              <a:t>($</a:t>
            </a:r>
            <a:r>
              <a:rPr lang="es-ES" sz="1100" dirty="0" err="1"/>
              <a:t>geometry</a:t>
            </a:r>
            <a:r>
              <a:rPr lang="es-ES" sz="1100" dirty="0"/>
              <a:t>))</a:t>
            </a:r>
          </a:p>
          <a:p>
            <a:pPr lvl="1"/>
            <a:r>
              <a:rPr lang="es-ES" sz="1100" dirty="0"/>
              <a:t>Cálculo de la coordenada Y del </a:t>
            </a:r>
            <a:r>
              <a:rPr lang="es-ES" sz="1100" dirty="0" err="1"/>
              <a:t>centroide</a:t>
            </a:r>
            <a:r>
              <a:rPr lang="es-ES" sz="1100" dirty="0"/>
              <a:t> de una capa de polígonos: </a:t>
            </a:r>
            <a:r>
              <a:rPr lang="es-ES" sz="1100" dirty="0" err="1"/>
              <a:t>ymin</a:t>
            </a:r>
            <a:r>
              <a:rPr lang="es-ES" sz="1100" dirty="0"/>
              <a:t>(</a:t>
            </a:r>
            <a:r>
              <a:rPr lang="es-ES" sz="1100" dirty="0" err="1"/>
              <a:t>centroid</a:t>
            </a:r>
            <a:r>
              <a:rPr lang="es-ES" sz="1100" dirty="0"/>
              <a:t>($</a:t>
            </a:r>
            <a:r>
              <a:rPr lang="es-ES" sz="1100" dirty="0" err="1"/>
              <a:t>geometry</a:t>
            </a:r>
            <a:r>
              <a:rPr lang="es-ES" sz="1100" dirty="0"/>
              <a:t>))</a:t>
            </a:r>
          </a:p>
          <a:p>
            <a:r>
              <a:rPr lang="es-ES" sz="1700" dirty="0"/>
              <a:t>“</a:t>
            </a:r>
            <a:r>
              <a:rPr lang="es-ES" sz="1600" b="1" dirty="0"/>
              <a:t>Registro</a:t>
            </a:r>
            <a:r>
              <a:rPr lang="es-ES" sz="1700" dirty="0"/>
              <a:t>”</a:t>
            </a:r>
          </a:p>
          <a:p>
            <a:pPr lvl="1"/>
            <a:r>
              <a:rPr lang="es-ES" sz="1100" dirty="0"/>
              <a:t>Añadir un índice </a:t>
            </a:r>
            <a:r>
              <a:rPr lang="es-ES" sz="1100" dirty="0" err="1"/>
              <a:t>autonumérico</a:t>
            </a:r>
            <a:r>
              <a:rPr lang="es-ES" sz="1100" dirty="0"/>
              <a:t>, siendo el primer valor “0”:   $id</a:t>
            </a:r>
          </a:p>
          <a:p>
            <a:pPr lvl="1"/>
            <a:r>
              <a:rPr lang="es-ES" sz="1100" dirty="0"/>
              <a:t>Añadir un índice </a:t>
            </a:r>
            <a:r>
              <a:rPr lang="es-ES" sz="1100" dirty="0" err="1"/>
              <a:t>autonumérico</a:t>
            </a:r>
            <a:r>
              <a:rPr lang="es-ES" sz="1100" dirty="0"/>
              <a:t>, siendo el primer valor “1”:   $id + 1</a:t>
            </a:r>
          </a:p>
          <a:p>
            <a:r>
              <a:rPr lang="es-ES" sz="1400" dirty="0"/>
              <a:t>“</a:t>
            </a:r>
            <a:r>
              <a:rPr lang="es-ES" sz="1600" b="1" dirty="0"/>
              <a:t>Texto</a:t>
            </a:r>
            <a:r>
              <a:rPr lang="es-ES" sz="1400" dirty="0"/>
              <a:t>”</a:t>
            </a:r>
            <a:endParaRPr lang="es-ES" sz="1100" dirty="0"/>
          </a:p>
          <a:p>
            <a:pPr lvl="1"/>
            <a:r>
              <a:rPr lang="es-ES" sz="1100" dirty="0"/>
              <a:t>Concatenación de varias cadenas: </a:t>
            </a:r>
            <a:r>
              <a:rPr lang="es-ES" sz="1100" dirty="0" err="1"/>
              <a:t>concat</a:t>
            </a:r>
            <a:r>
              <a:rPr lang="es-ES" sz="1100" dirty="0"/>
              <a:t>. Ejemplo: </a:t>
            </a:r>
            <a:r>
              <a:rPr lang="es-ES" sz="1100" dirty="0" err="1"/>
              <a:t>concat</a:t>
            </a:r>
            <a:r>
              <a:rPr lang="es-ES" sz="1100" dirty="0"/>
              <a:t>(‘</a:t>
            </a:r>
            <a:r>
              <a:rPr lang="es-ES" sz="1100" dirty="0" err="1"/>
              <a:t>textopol</a:t>
            </a:r>
            <a:r>
              <a:rPr lang="es-ES" sz="1100" dirty="0"/>
              <a:t>', ‘</a:t>
            </a:r>
            <a:r>
              <a:rPr lang="es-ES" sz="1100" dirty="0" err="1"/>
              <a:t>textopar</a:t>
            </a:r>
            <a:r>
              <a:rPr lang="es-ES" sz="1100" dirty="0"/>
              <a:t>') → </a:t>
            </a:r>
            <a:r>
              <a:rPr lang="es-ES" sz="1100" dirty="0" err="1"/>
              <a:t>textopoltextopar</a:t>
            </a:r>
            <a:r>
              <a:rPr lang="es-ES" sz="1100" dirty="0"/>
              <a:t>‘</a:t>
            </a:r>
          </a:p>
          <a:p>
            <a:pPr lvl="1"/>
            <a:r>
              <a:rPr lang="es-ES" sz="1100" dirty="0"/>
              <a:t>Extracción de una parte de una cadena: </a:t>
            </a:r>
            <a:r>
              <a:rPr lang="es-ES" sz="1100" dirty="0" err="1"/>
              <a:t>substr</a:t>
            </a:r>
            <a:r>
              <a:rPr lang="es-ES" sz="1100" dirty="0"/>
              <a:t>. Ejemplo: </a:t>
            </a:r>
            <a:r>
              <a:rPr lang="es-ES" sz="1100" dirty="0" err="1"/>
              <a:t>substr</a:t>
            </a:r>
            <a:r>
              <a:rPr lang="es-ES" sz="1100" dirty="0"/>
              <a:t>(‘22003’, 3,3) = ‘003’</a:t>
            </a:r>
          </a:p>
          <a:p>
            <a:pPr lvl="2"/>
            <a:r>
              <a:rPr lang="es-ES" sz="1100" dirty="0"/>
              <a:t>Ver también </a:t>
            </a:r>
            <a:r>
              <a:rPr lang="es-ES" sz="1100" dirty="0" err="1"/>
              <a:t>left</a:t>
            </a:r>
            <a:r>
              <a:rPr lang="es-ES" sz="1100" dirty="0"/>
              <a:t> y </a:t>
            </a:r>
            <a:r>
              <a:rPr lang="es-ES" sz="1100" dirty="0" err="1"/>
              <a:t>right</a:t>
            </a:r>
            <a:endParaRPr lang="es-ES" sz="1100" dirty="0"/>
          </a:p>
          <a:p>
            <a:r>
              <a:rPr lang="es-ES" sz="1400" dirty="0"/>
              <a:t>“</a:t>
            </a:r>
            <a:r>
              <a:rPr lang="es-ES" sz="1600" b="1" dirty="0"/>
              <a:t>Conversiones</a:t>
            </a:r>
            <a:r>
              <a:rPr lang="es-ES" sz="1400" dirty="0"/>
              <a:t>”</a:t>
            </a:r>
          </a:p>
          <a:p>
            <a:pPr lvl="1"/>
            <a:r>
              <a:rPr lang="es-ES" sz="1100" dirty="0"/>
              <a:t>Conversión de una cadena a número entero: </a:t>
            </a:r>
            <a:r>
              <a:rPr lang="es-ES" sz="1100" dirty="0" err="1"/>
              <a:t>to_int</a:t>
            </a:r>
            <a:r>
              <a:rPr lang="es-ES" sz="1100" dirty="0"/>
              <a:t> . Ejemplo: </a:t>
            </a:r>
            <a:r>
              <a:rPr lang="es-ES" sz="1100" dirty="0" err="1"/>
              <a:t>to_int</a:t>
            </a:r>
            <a:r>
              <a:rPr lang="es-ES" sz="1100" dirty="0"/>
              <a:t>(‘0004’) = 4</a:t>
            </a:r>
          </a:p>
          <a:p>
            <a:pPr lvl="1"/>
            <a:endParaRPr lang="es-ES" sz="1100" dirty="0"/>
          </a:p>
          <a:p>
            <a:endParaRPr lang="es-E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Calculadora de campos (IV)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539552" y="1556792"/>
            <a:ext cx="8138864" cy="5184576"/>
          </a:xfrm>
        </p:spPr>
        <p:txBody>
          <a:bodyPr/>
          <a:lstStyle/>
          <a:p>
            <a:pPr>
              <a:buNone/>
            </a:pPr>
            <a:r>
              <a:rPr lang="es-ES" dirty="0"/>
              <a:t>Funciones</a:t>
            </a:r>
          </a:p>
          <a:p>
            <a:r>
              <a:rPr lang="es-ES" sz="2400" dirty="0"/>
              <a:t>“Condicionales”</a:t>
            </a:r>
          </a:p>
          <a:p>
            <a:pPr lvl="1"/>
            <a:r>
              <a:rPr lang="es-ES" sz="1400" dirty="0"/>
              <a:t>Estructura CASE: evalúa una variable y realiza acciones en función del valor de la misma, para un número indeterminado de valores:</a:t>
            </a:r>
          </a:p>
          <a:p>
            <a:pPr lvl="2">
              <a:buNone/>
            </a:pPr>
            <a:r>
              <a:rPr lang="es-ES" sz="1400" dirty="0"/>
              <a:t>CASE</a:t>
            </a:r>
          </a:p>
          <a:p>
            <a:pPr lvl="3">
              <a:buNone/>
            </a:pPr>
            <a:r>
              <a:rPr lang="es-ES" sz="1400" dirty="0"/>
              <a:t>WHEN </a:t>
            </a:r>
            <a:r>
              <a:rPr lang="es-ES" sz="1400" i="1" dirty="0"/>
              <a:t>condición</a:t>
            </a:r>
            <a:r>
              <a:rPr lang="es-ES" sz="1400" dirty="0"/>
              <a:t> THEN </a:t>
            </a:r>
            <a:r>
              <a:rPr lang="es-ES" sz="1400" i="1" dirty="0"/>
              <a:t>sentencia o grupo de sentencias</a:t>
            </a:r>
          </a:p>
          <a:p>
            <a:pPr lvl="3">
              <a:buNone/>
            </a:pPr>
            <a:r>
              <a:rPr lang="es-ES" sz="1400" dirty="0"/>
              <a:t>WHEN </a:t>
            </a:r>
            <a:r>
              <a:rPr lang="es-ES" sz="1400" i="1" dirty="0"/>
              <a:t>condición2</a:t>
            </a:r>
            <a:r>
              <a:rPr lang="es-ES" sz="1400" dirty="0"/>
              <a:t> THEN</a:t>
            </a:r>
            <a:r>
              <a:rPr lang="es-ES" sz="1400" i="1" dirty="0"/>
              <a:t> sentencia o grupo de sentencias</a:t>
            </a:r>
          </a:p>
          <a:p>
            <a:pPr lvl="3">
              <a:buNone/>
            </a:pPr>
            <a:r>
              <a:rPr lang="es-ES" sz="1400" dirty="0"/>
              <a:t>WHEN </a:t>
            </a:r>
            <a:r>
              <a:rPr lang="es-ES" sz="1400" i="1" dirty="0"/>
              <a:t>condición3</a:t>
            </a:r>
            <a:r>
              <a:rPr lang="es-ES" sz="1400" dirty="0"/>
              <a:t> THEN </a:t>
            </a:r>
            <a:r>
              <a:rPr lang="es-ES" sz="1400" i="1" dirty="0"/>
              <a:t>sentencia o grupo de sentencias</a:t>
            </a:r>
          </a:p>
          <a:p>
            <a:pPr lvl="3">
              <a:buNone/>
            </a:pPr>
            <a:r>
              <a:rPr lang="es-ES" sz="1400" dirty="0"/>
              <a:t>[ ...n ]</a:t>
            </a:r>
          </a:p>
          <a:p>
            <a:pPr lvl="3">
              <a:buNone/>
            </a:pPr>
            <a:r>
              <a:rPr lang="es-ES" sz="1400" dirty="0"/>
              <a:t>[ ELSE </a:t>
            </a:r>
            <a:r>
              <a:rPr lang="es-ES" sz="1400" i="1" dirty="0"/>
              <a:t>sentencia o grupo de sentencias n</a:t>
            </a:r>
            <a:r>
              <a:rPr lang="es-ES" sz="1400" dirty="0"/>
              <a:t> ]</a:t>
            </a:r>
          </a:p>
          <a:p>
            <a:pPr lvl="2">
              <a:buNone/>
            </a:pPr>
            <a:r>
              <a:rPr lang="es-ES" sz="1400" dirty="0"/>
              <a:t>END</a:t>
            </a:r>
            <a:endParaRPr lang="es-ES" sz="1100" dirty="0"/>
          </a:p>
          <a:p>
            <a:r>
              <a:rPr lang="es-ES" dirty="0"/>
              <a:t>Ejemplo:</a:t>
            </a:r>
          </a:p>
          <a:p>
            <a:pPr indent="-228600">
              <a:buSzPct val="75000"/>
              <a:buNone/>
            </a:pPr>
            <a:r>
              <a:rPr lang="en-US" sz="1400" dirty="0"/>
              <a:t>CASE </a:t>
            </a:r>
          </a:p>
          <a:p>
            <a:pPr lvl="1" indent="-228600">
              <a:buSzPct val="75000"/>
              <a:buNone/>
            </a:pPr>
            <a:r>
              <a:rPr lang="en-US" sz="1100" dirty="0"/>
              <a:t>WHEN  </a:t>
            </a:r>
            <a:r>
              <a:rPr lang="en-US" sz="1100" dirty="0" err="1"/>
              <a:t>substr</a:t>
            </a:r>
            <a:r>
              <a:rPr lang="en-US" sz="1100" dirty="0"/>
              <a:t>(  "REFCAT" ,7,3) like '001'THEN '</a:t>
            </a:r>
            <a:r>
              <a:rPr lang="en-US" sz="1100" dirty="0" err="1"/>
              <a:t>Polígono</a:t>
            </a:r>
            <a:r>
              <a:rPr lang="en-US" sz="1100" dirty="0"/>
              <a:t> 1'</a:t>
            </a:r>
          </a:p>
          <a:p>
            <a:pPr lvl="1" indent="-228600">
              <a:buSzPct val="75000"/>
              <a:buNone/>
            </a:pPr>
            <a:r>
              <a:rPr lang="en-US" sz="1100" dirty="0"/>
              <a:t>ELSE</a:t>
            </a:r>
          </a:p>
          <a:p>
            <a:pPr lvl="1" indent="-228600">
              <a:buSzPct val="75000"/>
              <a:buNone/>
            </a:pPr>
            <a:r>
              <a:rPr lang="en-US" sz="1100" dirty="0"/>
              <a:t> '</a:t>
            </a:r>
            <a:r>
              <a:rPr lang="en-US" sz="1100" dirty="0" err="1"/>
              <a:t>Otro</a:t>
            </a:r>
            <a:r>
              <a:rPr lang="en-US" sz="1100" dirty="0"/>
              <a:t> </a:t>
            </a:r>
            <a:r>
              <a:rPr lang="en-US" sz="1100" dirty="0" err="1"/>
              <a:t>polígono</a:t>
            </a:r>
            <a:r>
              <a:rPr lang="en-US" sz="1100" dirty="0"/>
              <a:t>' </a:t>
            </a:r>
          </a:p>
          <a:p>
            <a:pPr indent="-228600">
              <a:buSzPct val="75000"/>
              <a:buNone/>
            </a:pPr>
            <a:r>
              <a:rPr lang="en-US" sz="1400" dirty="0"/>
              <a:t>END</a:t>
            </a:r>
            <a:endParaRPr lang="es-E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Calculadora de campos (III)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609600" y="1589566"/>
            <a:ext cx="8138864" cy="4863770"/>
          </a:xfrm>
        </p:spPr>
        <p:txBody>
          <a:bodyPr/>
          <a:lstStyle/>
          <a:p>
            <a:r>
              <a:rPr lang="es-ES" sz="3200" dirty="0"/>
              <a:t>Ejercicios (capa </a:t>
            </a:r>
            <a:r>
              <a:rPr lang="es-ES" sz="3200" dirty="0" err="1"/>
              <a:t>subparcelas</a:t>
            </a:r>
            <a:r>
              <a:rPr lang="es-ES" sz="32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Crear un campo “</a:t>
            </a:r>
            <a:r>
              <a:rPr lang="es-ES" sz="1600" dirty="0" err="1"/>
              <a:t>area</a:t>
            </a:r>
            <a:r>
              <a:rPr lang="es-ES" sz="1600" dirty="0"/>
              <a:t>”, y calcular el área  en las unidades de la capa.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Crear un campo “ha” y calcular el área en hectáreas.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A partir de la extracción de caracteres del campo “</a:t>
            </a:r>
            <a:r>
              <a:rPr lang="es-ES" sz="1600" dirty="0" err="1"/>
              <a:t>refcat</a:t>
            </a:r>
            <a:r>
              <a:rPr lang="es-ES" sz="1600" dirty="0"/>
              <a:t>”, obtener en un campo “</a:t>
            </a:r>
            <a:r>
              <a:rPr lang="es-ES" sz="1600" dirty="0" err="1"/>
              <a:t>poligono</a:t>
            </a:r>
            <a:r>
              <a:rPr lang="es-ES" sz="1600" dirty="0"/>
              <a:t>” de tipo texto el número del polígono con tres caracteres (incluyendo los 0 iniciales).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A partir de la extracción de caracteres del campo “</a:t>
            </a:r>
            <a:r>
              <a:rPr lang="es-ES" sz="1600" dirty="0" err="1"/>
              <a:t>refcat</a:t>
            </a:r>
            <a:r>
              <a:rPr lang="es-ES" sz="1600" dirty="0"/>
              <a:t>”, obtener en un campo “parcela” de tipo texto el número de la parcela con cinco caracteres (incluyendo los 0 iniciales).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Crear dos campos “</a:t>
            </a:r>
            <a:r>
              <a:rPr lang="es-ES" sz="1600" dirty="0" err="1"/>
              <a:t>pol</a:t>
            </a:r>
            <a:r>
              <a:rPr lang="es-ES" sz="1600" dirty="0"/>
              <a:t>” y “par” que almacenen los datos obtenidos en 4 y 5 como números enteros. 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Crear un nuevo campo texto “</a:t>
            </a:r>
            <a:r>
              <a:rPr lang="es-ES" sz="1600" dirty="0" err="1"/>
              <a:t>refnew</a:t>
            </a:r>
            <a:r>
              <a:rPr lang="es-ES" sz="1600" dirty="0"/>
              <a:t>” que concatene la cadena de texto “COD” y los datos obtenidos en 4 y 5. Ejemplo: ‘COD00100023’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Crear un nuevo campo “tipo” que, mediante una función CASE, añada el texto “REGADÍO’ a las parcelas del polígono 3, y “SECANO” al resto.</a:t>
            </a:r>
          </a:p>
          <a:p>
            <a:endParaRPr lang="es-E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rmedio">
  <a:themeElements>
    <a:clrScheme name="Orige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Intermedi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Intermedi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ge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5444</TotalTime>
  <Words>1405</Words>
  <Application>Microsoft Office PowerPoint</Application>
  <PresentationFormat>Presentación en pantalla (4:3)</PresentationFormat>
  <Paragraphs>142</Paragraphs>
  <Slides>14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Calibri</vt:lpstr>
      <vt:lpstr>Tw Cen MT</vt:lpstr>
      <vt:lpstr>Wingdings</vt:lpstr>
      <vt:lpstr>Wingdings 2</vt:lpstr>
      <vt:lpstr>Intermedio</vt:lpstr>
      <vt:lpstr>CURSO DE QGIS tablas</vt:lpstr>
      <vt:lpstr>Trabajando con tablas</vt:lpstr>
      <vt:lpstr>Trabajando con tablas (II)</vt:lpstr>
      <vt:lpstr>Propiedades de una tabla</vt:lpstr>
      <vt:lpstr>Consultas alfanuméricas</vt:lpstr>
      <vt:lpstr>Consultas alfanuméricas</vt:lpstr>
      <vt:lpstr>Consultas alfanuméricas</vt:lpstr>
      <vt:lpstr>Edición de tablas</vt:lpstr>
      <vt:lpstr>Edición de tablas (II)</vt:lpstr>
      <vt:lpstr>Calculadora de campos</vt:lpstr>
      <vt:lpstr>Calculadora de campos (II)</vt:lpstr>
      <vt:lpstr>Calculadora de campos (III). Funciones</vt:lpstr>
      <vt:lpstr>Calculadora de campos (IV)</vt:lpstr>
      <vt:lpstr>Calculadora de campos (III)</vt:lpstr>
    </vt:vector>
  </TitlesOfParts>
  <Company>Sodemasa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los sistemas de información geográfica con gvsig</dc:title>
  <dc:creator>daniel de leiva</dc:creator>
  <cp:lastModifiedBy>Daniel de Leiva</cp:lastModifiedBy>
  <cp:revision>655</cp:revision>
  <dcterms:created xsi:type="dcterms:W3CDTF">2012-11-13T11:39:15Z</dcterms:created>
  <dcterms:modified xsi:type="dcterms:W3CDTF">2024-10-14T15:07:30Z</dcterms:modified>
</cp:coreProperties>
</file>